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36"/>
                </a:solidFill>
                <a:latin typeface="Calibri"/>
              </a:defRPr>
            </a:pPr>
            <a:r>
              <a:rPr sz="1300" b="0" i="0" u="none" strike="noStrike">
                <a:solidFill>
                  <a:srgbClr val="0B2E36"/>
                </a:solidFill>
                <a:latin typeface="Calibri"/>
              </a:rPr>
              <a:t>Indel recall (%)  —  E. coli, 30× baseline</a:t>
            </a:r>
          </a:p>
        </c:rich>
      </c:tx>
      <c:layout/>
      <c:overlay val="0"/>
    </c:title>
    <c:autoTitleDeleted val="0"/>
    <c:plotArea>
      <c:layout/>
      <c:barChart>
        <c:barDir val="col"/>
        <c:grouping val="clustered"/>
        <c:varyColors val="0"/>
        <c:ser>
          <c:idx val="0"/>
          <c:order val="0"/>
          <c:tx>
            <c:strRef>
              <c:f>Sheet1!$B$1</c:f>
              <c:strCache>
                <c:ptCount val="1"/>
                <c:pt idx="0">
                  <c:v>GATK</c:v>
                </c:pt>
              </c:strCache>
            </c:strRef>
          </c:tx>
          <c:spPr>
            <a:solidFill>
              <a:srgbClr val="0E7C86"/>
            </a:solidFill>
            <a:effectLst/>
          </c:spPr>
          <c:invertIfNegative val="0"/>
          <c:dLbls>
            <c:numFmt formatCode="0.0" sourceLinked="0"/>
            <c:txPr>
              <a:bodyPr/>
              <a:lstStyle/>
              <a:p>
                <a:pPr>
                  <a:defRPr b="0" i="0" strike="noStrike" sz="1000" u="none">
                    <a:solidFill>
                      <a:srgbClr val="0B2E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BWA-MEM</c:v>
                  </c:pt>
                  <c:pt idx="1">
                    <c:v>Bowtie2</c:v>
                  </c:pt>
                  <c:pt idx="2">
                    <c:v>minimap2</c:v>
                  </c:pt>
                </c:lvl>
              </c:multiLvlStrCache>
            </c:multiLvlStrRef>
          </c:cat>
          <c:val>
            <c:numRef>
              <c:f>Sheet1!$B$2:$B$4</c:f>
              <c:numCache>
                <c:formatCode>General</c:formatCode>
                <c:ptCount val="3"/>
                <c:pt idx="0">
                  <c:v>99.5</c:v>
                </c:pt>
                <c:pt idx="1">
                  <c:v>98.7</c:v>
                </c:pt>
                <c:pt idx="2">
                  <c:v>99.4</c:v>
                </c:pt>
              </c:numCache>
            </c:numRef>
          </c:val>
        </c:ser>
        <c:ser>
          <c:idx val="1"/>
          <c:order val="1"/>
          <c:tx>
            <c:strRef>
              <c:f>Sheet1!$C$1</c:f>
              <c:strCache>
                <c:ptCount val="1"/>
                <c:pt idx="0">
                  <c:v>FreeBayes</c:v>
                </c:pt>
              </c:strCache>
            </c:strRef>
          </c:tx>
          <c:spPr>
            <a:solidFill>
              <a:srgbClr val="3BC4A8"/>
            </a:solidFill>
            <a:effectLst/>
          </c:spPr>
          <c:invertIfNegative val="0"/>
          <c:dLbls>
            <c:numFmt formatCode="0.0" sourceLinked="0"/>
            <c:txPr>
              <a:bodyPr/>
              <a:lstStyle/>
              <a:p>
                <a:pPr>
                  <a:defRPr b="0" i="0" strike="noStrike" sz="1000" u="none">
                    <a:solidFill>
                      <a:srgbClr val="0B2E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BWA-MEM</c:v>
                  </c:pt>
                  <c:pt idx="1">
                    <c:v>Bowtie2</c:v>
                  </c:pt>
                  <c:pt idx="2">
                    <c:v>minimap2</c:v>
                  </c:pt>
                </c:lvl>
              </c:multiLvlStrCache>
            </c:multiLvlStrRef>
          </c:cat>
          <c:val>
            <c:numRef>
              <c:f>Sheet1!$C$2:$C$4</c:f>
              <c:numCache>
                <c:formatCode>General</c:formatCode>
                <c:ptCount val="3"/>
                <c:pt idx="0">
                  <c:v>99.4</c:v>
                </c:pt>
                <c:pt idx="1">
                  <c:v>98.7</c:v>
                </c:pt>
                <c:pt idx="2">
                  <c:v>99.5</c:v>
                </c:pt>
              </c:numCache>
            </c:numRef>
          </c:val>
        </c:ser>
        <c:ser>
          <c:idx val="2"/>
          <c:order val="2"/>
          <c:tx>
            <c:strRef>
              <c:f>Sheet1!$D$1</c:f>
              <c:strCache>
                <c:ptCount val="1"/>
                <c:pt idx="0">
                  <c:v>BCFtools</c:v>
                </c:pt>
              </c:strCache>
            </c:strRef>
          </c:tx>
          <c:spPr>
            <a:solidFill>
              <a:srgbClr val="E8A33D"/>
            </a:solidFill>
            <a:effectLst/>
          </c:spPr>
          <c:invertIfNegative val="0"/>
          <c:dLbls>
            <c:numFmt formatCode="0.0" sourceLinked="0"/>
            <c:txPr>
              <a:bodyPr/>
              <a:lstStyle/>
              <a:p>
                <a:pPr>
                  <a:defRPr b="0" i="0" strike="noStrike" sz="1000" u="none">
                    <a:solidFill>
                      <a:srgbClr val="0B2E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BWA-MEM</c:v>
                  </c:pt>
                  <c:pt idx="1">
                    <c:v>Bowtie2</c:v>
                  </c:pt>
                  <c:pt idx="2">
                    <c:v>minimap2</c:v>
                  </c:pt>
                </c:lvl>
              </c:multiLvlStrCache>
            </c:multiLvlStrRef>
          </c:cat>
          <c:val>
            <c:numRef>
              <c:f>Sheet1!$D$2:$D$4</c:f>
              <c:numCache>
                <c:formatCode>General</c:formatCode>
                <c:ptCount val="3"/>
                <c:pt idx="0">
                  <c:v>99.4</c:v>
                </c:pt>
                <c:pt idx="1">
                  <c:v>98.2</c:v>
                </c:pt>
                <c:pt idx="2">
                  <c:v>99.4</c:v>
                </c:pt>
              </c:numCache>
            </c:numRef>
          </c:val>
        </c:ser>
        <c:dLbls>
          <c:numFmt formatCode="0.0" sourceLinked="0"/>
          <c:txPr>
            <a:bodyPr/>
            <a:lstStyle/>
            <a:p>
              <a:pPr>
                <a:defRPr b="0" i="0" strike="noStrike" sz="1000" u="none">
                  <a:solidFill>
                    <a:srgbClr val="0B2E36"/>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E36"/>
                </a:solidFill>
                <a:latin typeface="Calibri"/>
              </a:defRPr>
            </a:pPr>
            <a:endParaRPr lang="en-US"/>
          </a:p>
        </c:txPr>
        <c:crossAx val="2094734552"/>
        <c:crosses val="autoZero"/>
        <c:auto val="1"/>
        <c:lblAlgn val="ctr"/>
        <c:noMultiLvlLbl val="1"/>
      </c:catAx>
      <c:valAx>
        <c:axId val="2094734552"/>
        <c:scaling>
          <c:orientation val="minMax"/>
          <c:max val="100"/>
          <c:min val="97.5"/>
        </c:scaling>
        <c:delete val="0"/>
        <c:axPos val="l"/>
        <c:majorGridlines>
          <c:spPr>
            <a:ln w="12700" cap="flat">
              <a:solidFill>
                <a:srgbClr val="E4ED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2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problem and move on within 20 seconds. Do not explain the subtitle - slide 3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a practical decision a lab faces. Avoid tool trivia. The grid stays empty here - it gets filled on slide 8, which is why it is introduced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minute here - this is the conceptual core. Because WE wrote the mutation list, every call is gradeable. Then plant the hook: that FROM/TO distinction is the easiest thing to get backwards, and I will come back to it on the silent-failures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genomes have different jobs: phiX is the debugging organism (runs in seconds, proves each stage), E. coli is 860x larger with real repeats so it can distinguish aligners. Explain no-BQSR in one sentence: it needs a known-variant database that does not exist for these organisms, and bootstrapping one would give GATK a step its competitors do not get. Say explicitly this is a fairness decision, not an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 is orientation, not content. The one sentence worth making: two independent implementations producing identical results is the strongest evidence that neither has a silly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that the sweep has not run. Then give the measured cost - knowing your own compute budget precisely reads as competence. Note the constraint is disk, not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in order: (1) placement accuracy isolates the aligner completely - no caller involved; (2) all three tied at ~99%, so at this baseline alignment is an EASY problem; (3) runtime and memory are inverted. Do NOT compare mean MAPQ across tools as a quality score - it sets up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F1 in one line, then give the worked example. Note phiX = 1.0000 for all nine and explain it in one breath, pre-empting the 'is that a bug' question - slide 12 answers it properly. The Bowtie2 row is visibly the weak one; let the colour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one memorable claim - spend time here. Convert F1 differences into error ratios; '7.4x more indel errors' lands where '0.9815 vs 0.9975' does not. Label the mechanism explicitly as a hypothesis. Then say the limitation OUT LOUD before anyone asks - volunteering it converts your weakest point into evidence of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Bowtie2 bars are all lower than every BWA/minimap2 bar - the aligner sets the ceiling regardless of caller. Mention Bowtie2+FreeBayes has the highest SNV recall of any pipeline (0.9912) but by far the most false positives (50, where six pipelines have zero) - the one aggressive pipeline, invisible in the F1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intellectual core of the talk - budget the most time here, about 100 seconds. End on the unifying line: every one of these fails silently, which is why the project spends more effort on verification than on running the tools. If you must cut elsewhere to protect this slide,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negative control - it answers the phiX=1.0 question directly. The length-bookkeeping check deserves 15 seconds: it ties the truth file to the exact FASTA the reads came from. Counts and spot-checks both pass even if those two disagree, and if they disagreed every number in the project would be wrong with no other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design is one-factor-at-a-time and name its limitation before the examiner does - it cannot detect interactions. Naming your own design's weakness is worth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slide. Say the one thing you want remembered - the closing line. Then stop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6"/>
        </a:solidFill>
      </p:bgPr>
    </p:bg>
    <p:spTree>
      <p:nvGrpSpPr>
        <p:cNvPr id="1" name=""/>
        <p:cNvGrpSpPr/>
        <p:nvPr/>
      </p:nvGrpSpPr>
      <p:grpSpPr>
        <a:xfrm>
          <a:off x="0" y="0"/>
          <a:ext cx="0" cy="0"/>
          <a:chOff x="0" y="0"/>
          <a:chExt cx="0" cy="0"/>
        </a:xfrm>
      </p:grpSpPr>
      <p:sp>
        <p:nvSpPr>
          <p:cNvPr id="2" name="Shape 0"/>
          <p:cNvSpPr/>
          <p:nvPr/>
        </p:nvSpPr>
        <p:spPr>
          <a:xfrm>
            <a:off x="8869680" y="-1554480"/>
            <a:ext cx="5120640" cy="5120640"/>
          </a:xfrm>
          <a:prstGeom prst="ellipse">
            <a:avLst/>
          </a:prstGeom>
          <a:solidFill>
            <a:srgbClr val="0E7C86">
              <a:alpha val="18000"/>
            </a:srgbClr>
          </a:solidFill>
          <a:ln w="12700">
            <a:solidFill>
              <a:srgbClr val="0E7C86">
                <a:alpha val="18000"/>
              </a:srgbClr>
            </a:solidFill>
            <a:prstDash val="solid"/>
          </a:ln>
        </p:spPr>
      </p:sp>
      <p:sp>
        <p:nvSpPr>
          <p:cNvPr id="3" name="Shape 1"/>
          <p:cNvSpPr/>
          <p:nvPr/>
        </p:nvSpPr>
        <p:spPr>
          <a:xfrm>
            <a:off x="10149840" y="3840480"/>
            <a:ext cx="3108960" cy="3108960"/>
          </a:xfrm>
          <a:prstGeom prst="ellipse">
            <a:avLst/>
          </a:prstGeom>
          <a:solidFill>
            <a:srgbClr val="3BC4A8">
              <a:alpha val="12000"/>
            </a:srgbClr>
          </a:solidFill>
          <a:ln w="12700">
            <a:solidFill>
              <a:srgbClr val="3BC4A8">
                <a:alpha val="12000"/>
              </a:srgbClr>
            </a:solidFill>
            <a:prstDash val="solid"/>
          </a:ln>
        </p:spPr>
      </p:sp>
      <p:sp>
        <p:nvSpPr>
          <p:cNvPr id="4" name="Text 2"/>
          <p:cNvSpPr/>
          <p:nvPr/>
        </p:nvSpPr>
        <p:spPr>
          <a:xfrm>
            <a:off x="566928" y="1417320"/>
            <a:ext cx="7315200" cy="274320"/>
          </a:xfrm>
          <a:prstGeom prst="rect">
            <a:avLst/>
          </a:prstGeom>
          <a:noFill/>
          <a:ln/>
        </p:spPr>
        <p:txBody>
          <a:bodyPr wrap="square" lIns="0" tIns="0" rIns="0" bIns="0" rtlCol="0" anchor="ctr"/>
          <a:lstStyle/>
          <a:p>
            <a:pPr indent="0" marL="0">
              <a:buNone/>
            </a:pPr>
            <a:r>
              <a:rPr lang="en-US" sz="1300" b="1" spc="300" kern="0" dirty="0">
                <a:solidFill>
                  <a:srgbClr val="3BC4A8"/>
                </a:solidFill>
                <a:latin typeface="Calibri" pitchFamily="34" charset="0"/>
                <a:ea typeface="Calibri" pitchFamily="34" charset="-122"/>
                <a:cs typeface="Calibri" pitchFamily="34" charset="-120"/>
              </a:rPr>
              <a:t>MID-SEMESTER REVIEW</a:t>
            </a:r>
            <a:endParaRPr lang="en-US" sz="1300" dirty="0"/>
          </a:p>
        </p:txBody>
      </p:sp>
      <p:sp>
        <p:nvSpPr>
          <p:cNvPr id="5" name="Text 3"/>
          <p:cNvSpPr/>
          <p:nvPr/>
        </p:nvSpPr>
        <p:spPr>
          <a:xfrm>
            <a:off x="566928" y="1828800"/>
            <a:ext cx="859536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Benchmarking Read Aligners</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and Variant Callers</a:t>
            </a:r>
            <a:endParaRPr lang="en-US" sz="4400" dirty="0"/>
          </a:p>
        </p:txBody>
      </p:sp>
      <p:sp>
        <p:nvSpPr>
          <p:cNvPr id="6" name="Text 4"/>
          <p:cNvSpPr/>
          <p:nvPr/>
        </p:nvSpPr>
        <p:spPr>
          <a:xfrm>
            <a:off x="566928" y="3703320"/>
            <a:ext cx="8412480" cy="457200"/>
          </a:xfrm>
          <a:prstGeom prst="rect">
            <a:avLst/>
          </a:prstGeom>
          <a:noFill/>
          <a:ln/>
        </p:spPr>
        <p:txBody>
          <a:bodyPr wrap="square" lIns="0" tIns="0" rIns="0" bIns="0" rtlCol="0" anchor="ctr"/>
          <a:lstStyle/>
          <a:p>
            <a:pPr indent="0" marL="0">
              <a:buNone/>
            </a:pPr>
            <a:r>
              <a:rPr lang="en-US" sz="1600" dirty="0">
                <a:solidFill>
                  <a:srgbClr val="BBD3D6"/>
                </a:solidFill>
                <a:latin typeface="Calibri" pitchFamily="34" charset="0"/>
                <a:ea typeface="Calibri" pitchFamily="34" charset="-122"/>
                <a:cs typeface="Calibri" pitchFamily="34" charset="-120"/>
              </a:rPr>
              <a:t>3 aligners × 3 callers = 9 pipelines, scored against variants we injected ourselves</a:t>
            </a:r>
            <a:endParaRPr lang="en-US" sz="1600" dirty="0"/>
          </a:p>
        </p:txBody>
      </p:sp>
      <p:sp>
        <p:nvSpPr>
          <p:cNvPr id="7" name="Shape 5"/>
          <p:cNvSpPr/>
          <p:nvPr/>
        </p:nvSpPr>
        <p:spPr>
          <a:xfrm>
            <a:off x="566928" y="4526280"/>
            <a:ext cx="2011680" cy="32004"/>
          </a:xfrm>
          <a:prstGeom prst="rect">
            <a:avLst/>
          </a:prstGeom>
          <a:solidFill>
            <a:srgbClr val="3BC4A8"/>
          </a:solidFill>
          <a:ln w="12700">
            <a:solidFill>
              <a:srgbClr val="3BC4A8"/>
            </a:solidFill>
            <a:prstDash val="solid"/>
          </a:ln>
        </p:spPr>
      </p:sp>
      <p:sp>
        <p:nvSpPr>
          <p:cNvPr id="8" name="Text 6"/>
          <p:cNvSpPr/>
          <p:nvPr/>
        </p:nvSpPr>
        <p:spPr>
          <a:xfrm>
            <a:off x="566928" y="4800600"/>
            <a:ext cx="8229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Rashwanth</a:t>
            </a:r>
            <a:pPr indent="0" marL="0">
              <a:buNone/>
            </a:pPr>
            <a:r>
              <a:rPr lang="en-US" sz="1400" dirty="0">
                <a:solidFill>
                  <a:srgbClr val="8FAEB3"/>
                </a:solidFill>
                <a:latin typeface="Calibri" pitchFamily="34" charset="0"/>
                <a:ea typeface="Calibri" pitchFamily="34" charset="-122"/>
                <a:cs typeface="Calibri" pitchFamily="34" charset="-120"/>
              </a:rPr>
              <a:t>   ·   Semester 7 · DNA Sequencing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QUESTION</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Which pipeline should you actually use?</a:t>
            </a:r>
            <a:endParaRPr lang="en-US" sz="3400" dirty="0"/>
          </a:p>
        </p:txBody>
      </p:sp>
      <p:sp>
        <p:nvSpPr>
          <p:cNvPr id="4" name="Text 2"/>
          <p:cNvSpPr/>
          <p:nvPr/>
        </p:nvSpPr>
        <p:spPr>
          <a:xfrm>
            <a:off x="566928" y="1691640"/>
            <a:ext cx="5669280" cy="2011680"/>
          </a:xfrm>
          <a:prstGeom prst="rect">
            <a:avLst/>
          </a:prstGeom>
          <a:noFill/>
          <a:ln/>
        </p:spPr>
        <p:txBody>
          <a:bodyPr wrap="square" lIns="0" tIns="0" rIns="0" bIns="0" rtlCol="0" anchor="ctr"/>
          <a:lstStyle/>
          <a:p>
            <a:pPr indent="0" marL="0">
              <a:spcAft>
                <a:spcPts val="1000"/>
              </a:spcAft>
              <a:buNone/>
            </a:pPr>
            <a:r>
              <a:rPr lang="en-US" sz="1500" b="1" dirty="0">
                <a:solidFill>
                  <a:srgbClr val="0B2E36"/>
                </a:solidFill>
                <a:latin typeface="Calibri" pitchFamily="34" charset="0"/>
                <a:ea typeface="Calibri" pitchFamily="34" charset="-122"/>
                <a:cs typeface="Calibri" pitchFamily="34" charset="-120"/>
              </a:rPr>
              <a:t>Finding genetic differences takes two tools in sequence</a:t>
            </a:r>
            <a:endParaRPr lang="en-US" sz="1500" dirty="0"/>
          </a:p>
          <a:p>
            <a:pPr marL="228600" indent="-228600">
              <a:spcAft>
                <a:spcPts val="1000"/>
              </a:spcAft>
              <a:buSzPct val="100000"/>
              <a:buChar char="•"/>
            </a:pPr>
            <a:r>
              <a:rPr lang="en-US" sz="1500" dirty="0">
                <a:solidFill>
                  <a:srgbClr val="5C7278"/>
                </a:solidFill>
                <a:latin typeface="Calibri" pitchFamily="34" charset="0"/>
                <a:ea typeface="Calibri" pitchFamily="34" charset="-122"/>
                <a:cs typeface="Calibri" pitchFamily="34" charset="-120"/>
              </a:rPr>
              <a:t>An ALIGNER decides where each short read came from in the genome</a:t>
            </a:r>
            <a:endParaRPr lang="en-US" sz="1500" dirty="0"/>
          </a:p>
          <a:p>
            <a:pPr marL="228600" indent="-228600">
              <a:spcAft>
                <a:spcPts val="1000"/>
              </a:spcAft>
              <a:buSzPct val="100000"/>
              <a:buChar char="•"/>
            </a:pPr>
            <a:r>
              <a:rPr lang="en-US" sz="1500" dirty="0">
                <a:solidFill>
                  <a:srgbClr val="5C7278"/>
                </a:solidFill>
                <a:latin typeface="Calibri" pitchFamily="34" charset="0"/>
                <a:ea typeface="Calibri" pitchFamily="34" charset="-122"/>
                <a:cs typeface="Calibri" pitchFamily="34" charset="-120"/>
              </a:rPr>
              <a:t>A CALLER decides whether a position genuinely differs from the reference</a:t>
            </a:r>
            <a:endParaRPr lang="en-US" sz="1500" dirty="0"/>
          </a:p>
          <a:p>
            <a:pPr indent="0" marL="0">
              <a:spcAft>
                <a:spcPts val="1000"/>
              </a:spcAft>
              <a:buNone/>
            </a:pPr>
            <a:r>
              <a:rPr lang="en-US" sz="1500" b="1" dirty="0">
                <a:solidFill>
                  <a:srgbClr val="0B2E36"/>
                </a:solidFill>
                <a:latin typeface="Calibri" pitchFamily="34" charset="0"/>
                <a:ea typeface="Calibri" pitchFamily="34" charset="-122"/>
                <a:cs typeface="Calibri" pitchFamily="34" charset="-120"/>
              </a:rPr>
              <a:t>There are many of each — all widely used, all claiming to work</a:t>
            </a:r>
            <a:endParaRPr lang="en-US" sz="1500" dirty="0"/>
          </a:p>
        </p:txBody>
      </p:sp>
      <p:sp>
        <p:nvSpPr>
          <p:cNvPr id="5" name="Shape 3"/>
          <p:cNvSpPr/>
          <p:nvPr/>
        </p:nvSpPr>
        <p:spPr>
          <a:xfrm>
            <a:off x="566928" y="3931920"/>
            <a:ext cx="5669280" cy="1234440"/>
          </a:xfrm>
          <a:prstGeom prst="roundRect">
            <a:avLst>
              <a:gd name="adj" fmla="val 592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6" name="Text 4"/>
          <p:cNvSpPr/>
          <p:nvPr/>
        </p:nvSpPr>
        <p:spPr>
          <a:xfrm>
            <a:off x="841248" y="4114800"/>
            <a:ext cx="5120640" cy="868680"/>
          </a:xfrm>
          <a:prstGeom prst="rect">
            <a:avLst/>
          </a:prstGeom>
          <a:noFill/>
          <a:ln/>
        </p:spPr>
        <p:txBody>
          <a:bodyPr wrap="square" lIns="0" tIns="0" rIns="0" bIns="0" rtlCol="0" anchor="ctr"/>
          <a:lstStyle/>
          <a:p>
            <a:pPr indent="0" marL="0">
              <a:buNone/>
            </a:pPr>
            <a:r>
              <a:rPr lang="en-US" sz="1500" i="1" dirty="0">
                <a:solidFill>
                  <a:srgbClr val="0B2E36"/>
                </a:solidFill>
                <a:latin typeface="Calibri" pitchFamily="34" charset="0"/>
                <a:ea typeface="Calibri" pitchFamily="34" charset="-122"/>
                <a:cs typeface="Calibri" pitchFamily="34" charset="-120"/>
              </a:rPr>
              <a:t>The choice is usually made by habit, or by whatever a tutorial used — not by evidence.</a:t>
            </a:r>
            <a:endParaRPr lang="en-US" sz="1500" dirty="0"/>
          </a:p>
        </p:txBody>
      </p:sp>
      <p:sp>
        <p:nvSpPr>
          <p:cNvPr id="7" name="Text 5"/>
          <p:cNvSpPr/>
          <p:nvPr/>
        </p:nvSpPr>
        <p:spPr>
          <a:xfrm>
            <a:off x="6720840" y="1600200"/>
            <a:ext cx="4892040" cy="502920"/>
          </a:xfrm>
          <a:prstGeom prst="rect">
            <a:avLst/>
          </a:prstGeom>
          <a:noFill/>
          <a:ln/>
        </p:spPr>
        <p:txBody>
          <a:bodyPr wrap="square" lIns="0" tIns="0" rIns="0" bIns="0" rtlCol="0" anchor="ctr"/>
          <a:lstStyle/>
          <a:p>
            <a:pPr indent="0" marL="0">
              <a:buNone/>
            </a:pPr>
            <a:r>
              <a:rPr lang="en-US" sz="1400" b="1" dirty="0">
                <a:solidFill>
                  <a:srgbClr val="0B2E36"/>
                </a:solidFill>
                <a:latin typeface="Calibri" pitchFamily="34" charset="0"/>
                <a:ea typeface="Calibri" pitchFamily="34" charset="-122"/>
                <a:cs typeface="Calibri" pitchFamily="34" charset="-120"/>
              </a:rPr>
              <a:t>9 combinations. Which one wins — and does it depend on the data?</a:t>
            </a:r>
            <a:endParaRPr lang="en-US" sz="1400" dirty="0"/>
          </a:p>
        </p:txBody>
      </p:sp>
      <p:sp>
        <p:nvSpPr>
          <p:cNvPr id="8" name="Text 6"/>
          <p:cNvSpPr/>
          <p:nvPr/>
        </p:nvSpPr>
        <p:spPr>
          <a:xfrm>
            <a:off x="7772400" y="2203704"/>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GATK</a:t>
            </a:r>
            <a:endParaRPr lang="en-US" sz="1200" dirty="0"/>
          </a:p>
        </p:txBody>
      </p:sp>
      <p:sp>
        <p:nvSpPr>
          <p:cNvPr id="9" name="Text 7"/>
          <p:cNvSpPr/>
          <p:nvPr/>
        </p:nvSpPr>
        <p:spPr>
          <a:xfrm>
            <a:off x="9189720" y="2203704"/>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FreeBayes</a:t>
            </a:r>
            <a:endParaRPr lang="en-US" sz="1200" dirty="0"/>
          </a:p>
        </p:txBody>
      </p:sp>
      <p:sp>
        <p:nvSpPr>
          <p:cNvPr id="10" name="Text 8"/>
          <p:cNvSpPr/>
          <p:nvPr/>
        </p:nvSpPr>
        <p:spPr>
          <a:xfrm>
            <a:off x="10607040" y="2203704"/>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BCFtools</a:t>
            </a:r>
            <a:endParaRPr lang="en-US" sz="1200" dirty="0"/>
          </a:p>
        </p:txBody>
      </p:sp>
      <p:sp>
        <p:nvSpPr>
          <p:cNvPr id="11" name="Text 9"/>
          <p:cNvSpPr/>
          <p:nvPr/>
        </p:nvSpPr>
        <p:spPr>
          <a:xfrm>
            <a:off x="6720840" y="2514600"/>
            <a:ext cx="960120" cy="868680"/>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BWA-MEM</a:t>
            </a:r>
            <a:endParaRPr lang="en-US" sz="1200" dirty="0"/>
          </a:p>
        </p:txBody>
      </p:sp>
      <p:sp>
        <p:nvSpPr>
          <p:cNvPr id="12" name="Shape 10"/>
          <p:cNvSpPr/>
          <p:nvPr/>
        </p:nvSpPr>
        <p:spPr>
          <a:xfrm>
            <a:off x="7813548" y="2555748"/>
            <a:ext cx="1335024" cy="786384"/>
          </a:xfrm>
          <a:prstGeom prst="roundRect">
            <a:avLst>
              <a:gd name="adj" fmla="val 6977"/>
            </a:avLst>
          </a:prstGeom>
          <a:solidFill>
            <a:srgbClr val="EDF4F5"/>
          </a:solidFill>
          <a:ln w="12700">
            <a:solidFill>
              <a:srgbClr val="EDF4F5"/>
            </a:solidFill>
            <a:prstDash val="solid"/>
          </a:ln>
        </p:spPr>
      </p:sp>
      <p:sp>
        <p:nvSpPr>
          <p:cNvPr id="13" name="Shape 11"/>
          <p:cNvSpPr/>
          <p:nvPr/>
        </p:nvSpPr>
        <p:spPr>
          <a:xfrm>
            <a:off x="9230868" y="2555748"/>
            <a:ext cx="1335024" cy="786384"/>
          </a:xfrm>
          <a:prstGeom prst="roundRect">
            <a:avLst>
              <a:gd name="adj" fmla="val 6977"/>
            </a:avLst>
          </a:prstGeom>
          <a:solidFill>
            <a:srgbClr val="EDF4F5"/>
          </a:solidFill>
          <a:ln w="12700">
            <a:solidFill>
              <a:srgbClr val="EDF4F5"/>
            </a:solidFill>
            <a:prstDash val="solid"/>
          </a:ln>
        </p:spPr>
      </p:sp>
      <p:sp>
        <p:nvSpPr>
          <p:cNvPr id="14" name="Shape 12"/>
          <p:cNvSpPr/>
          <p:nvPr/>
        </p:nvSpPr>
        <p:spPr>
          <a:xfrm>
            <a:off x="10648188" y="2555748"/>
            <a:ext cx="1335024" cy="786384"/>
          </a:xfrm>
          <a:prstGeom prst="roundRect">
            <a:avLst>
              <a:gd name="adj" fmla="val 6977"/>
            </a:avLst>
          </a:prstGeom>
          <a:solidFill>
            <a:srgbClr val="EDF4F5"/>
          </a:solidFill>
          <a:ln w="12700">
            <a:solidFill>
              <a:srgbClr val="EDF4F5"/>
            </a:solidFill>
            <a:prstDash val="solid"/>
          </a:ln>
        </p:spPr>
      </p:sp>
      <p:sp>
        <p:nvSpPr>
          <p:cNvPr id="15" name="Text 13"/>
          <p:cNvSpPr/>
          <p:nvPr/>
        </p:nvSpPr>
        <p:spPr>
          <a:xfrm>
            <a:off x="6720840" y="3383280"/>
            <a:ext cx="960120" cy="868680"/>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Bowtie2</a:t>
            </a:r>
            <a:endParaRPr lang="en-US" sz="1200" dirty="0"/>
          </a:p>
        </p:txBody>
      </p:sp>
      <p:sp>
        <p:nvSpPr>
          <p:cNvPr id="16" name="Shape 14"/>
          <p:cNvSpPr/>
          <p:nvPr/>
        </p:nvSpPr>
        <p:spPr>
          <a:xfrm>
            <a:off x="7813548" y="3424428"/>
            <a:ext cx="1335024" cy="786384"/>
          </a:xfrm>
          <a:prstGeom prst="roundRect">
            <a:avLst>
              <a:gd name="adj" fmla="val 6977"/>
            </a:avLst>
          </a:prstGeom>
          <a:solidFill>
            <a:srgbClr val="EDF4F5"/>
          </a:solidFill>
          <a:ln w="12700">
            <a:solidFill>
              <a:srgbClr val="EDF4F5"/>
            </a:solidFill>
            <a:prstDash val="solid"/>
          </a:ln>
        </p:spPr>
      </p:sp>
      <p:sp>
        <p:nvSpPr>
          <p:cNvPr id="17" name="Shape 15"/>
          <p:cNvSpPr/>
          <p:nvPr/>
        </p:nvSpPr>
        <p:spPr>
          <a:xfrm>
            <a:off x="9230868" y="3424428"/>
            <a:ext cx="1335024" cy="786384"/>
          </a:xfrm>
          <a:prstGeom prst="roundRect">
            <a:avLst>
              <a:gd name="adj" fmla="val 6977"/>
            </a:avLst>
          </a:prstGeom>
          <a:solidFill>
            <a:srgbClr val="EDF4F5"/>
          </a:solidFill>
          <a:ln w="12700">
            <a:solidFill>
              <a:srgbClr val="EDF4F5"/>
            </a:solidFill>
            <a:prstDash val="solid"/>
          </a:ln>
        </p:spPr>
      </p:sp>
      <p:sp>
        <p:nvSpPr>
          <p:cNvPr id="18" name="Shape 16"/>
          <p:cNvSpPr/>
          <p:nvPr/>
        </p:nvSpPr>
        <p:spPr>
          <a:xfrm>
            <a:off x="10648188" y="3424428"/>
            <a:ext cx="1335024" cy="786384"/>
          </a:xfrm>
          <a:prstGeom prst="roundRect">
            <a:avLst>
              <a:gd name="adj" fmla="val 6977"/>
            </a:avLst>
          </a:prstGeom>
          <a:solidFill>
            <a:srgbClr val="EDF4F5"/>
          </a:solidFill>
          <a:ln w="12700">
            <a:solidFill>
              <a:srgbClr val="EDF4F5"/>
            </a:solidFill>
            <a:prstDash val="solid"/>
          </a:ln>
        </p:spPr>
      </p:sp>
      <p:sp>
        <p:nvSpPr>
          <p:cNvPr id="19" name="Text 17"/>
          <p:cNvSpPr/>
          <p:nvPr/>
        </p:nvSpPr>
        <p:spPr>
          <a:xfrm>
            <a:off x="6720840" y="4251960"/>
            <a:ext cx="960120" cy="868680"/>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minimap2</a:t>
            </a:r>
            <a:endParaRPr lang="en-US" sz="1200" dirty="0"/>
          </a:p>
        </p:txBody>
      </p:sp>
      <p:sp>
        <p:nvSpPr>
          <p:cNvPr id="20" name="Shape 18"/>
          <p:cNvSpPr/>
          <p:nvPr/>
        </p:nvSpPr>
        <p:spPr>
          <a:xfrm>
            <a:off x="7813548" y="4293108"/>
            <a:ext cx="1335024" cy="786384"/>
          </a:xfrm>
          <a:prstGeom prst="roundRect">
            <a:avLst>
              <a:gd name="adj" fmla="val 6977"/>
            </a:avLst>
          </a:prstGeom>
          <a:solidFill>
            <a:srgbClr val="EDF4F5"/>
          </a:solidFill>
          <a:ln w="12700">
            <a:solidFill>
              <a:srgbClr val="EDF4F5"/>
            </a:solidFill>
            <a:prstDash val="solid"/>
          </a:ln>
        </p:spPr>
      </p:sp>
      <p:sp>
        <p:nvSpPr>
          <p:cNvPr id="21" name="Shape 19"/>
          <p:cNvSpPr/>
          <p:nvPr/>
        </p:nvSpPr>
        <p:spPr>
          <a:xfrm>
            <a:off x="9230868" y="4293108"/>
            <a:ext cx="1335024" cy="786384"/>
          </a:xfrm>
          <a:prstGeom prst="roundRect">
            <a:avLst>
              <a:gd name="adj" fmla="val 6977"/>
            </a:avLst>
          </a:prstGeom>
          <a:solidFill>
            <a:srgbClr val="EDF4F5"/>
          </a:solidFill>
          <a:ln w="12700">
            <a:solidFill>
              <a:srgbClr val="EDF4F5"/>
            </a:solidFill>
            <a:prstDash val="solid"/>
          </a:ln>
        </p:spPr>
      </p:sp>
      <p:sp>
        <p:nvSpPr>
          <p:cNvPr id="22" name="Shape 20"/>
          <p:cNvSpPr/>
          <p:nvPr/>
        </p:nvSpPr>
        <p:spPr>
          <a:xfrm>
            <a:off x="10648188" y="4293108"/>
            <a:ext cx="1335024" cy="786384"/>
          </a:xfrm>
          <a:prstGeom prst="roundRect">
            <a:avLst>
              <a:gd name="adj" fmla="val 6977"/>
            </a:avLst>
          </a:prstGeom>
          <a:solidFill>
            <a:srgbClr val="EDF4F5"/>
          </a:solidFill>
          <a:ln w="12700">
            <a:solidFill>
              <a:srgbClr val="EDF4F5"/>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METHOD</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You cannot benchmark on real data</a:t>
            </a:r>
            <a:endParaRPr lang="en-US" sz="3400" dirty="0"/>
          </a:p>
        </p:txBody>
      </p:sp>
      <p:sp>
        <p:nvSpPr>
          <p:cNvPr id="4" name="Text 2"/>
          <p:cNvSpPr/>
          <p:nvPr/>
        </p:nvSpPr>
        <p:spPr>
          <a:xfrm>
            <a:off x="566928" y="1481328"/>
            <a:ext cx="10424160" cy="457200"/>
          </a:xfrm>
          <a:prstGeom prst="rect">
            <a:avLst/>
          </a:prstGeom>
          <a:noFill/>
          <a:ln/>
        </p:spPr>
        <p:txBody>
          <a:bodyPr wrap="square" lIns="0" tIns="0" rIns="0" bIns="0" rtlCol="0" anchor="ctr"/>
          <a:lstStyle/>
          <a:p>
            <a:pPr indent="0" marL="0">
              <a:buNone/>
            </a:pPr>
            <a:r>
              <a:rPr lang="en-US" sz="1500" dirty="0">
                <a:solidFill>
                  <a:srgbClr val="5C7278"/>
                </a:solidFill>
                <a:latin typeface="Calibri" pitchFamily="34" charset="0"/>
                <a:ea typeface="Calibri" pitchFamily="34" charset="-122"/>
                <a:cs typeface="Calibri" pitchFamily="34" charset="-120"/>
              </a:rPr>
              <a:t>To grade a pipeline you must already know the right answer. For a real sample, nobody does — so we manufacture one where the answer is known by construction.</a:t>
            </a:r>
            <a:endParaRPr lang="en-US" sz="1500" dirty="0"/>
          </a:p>
        </p:txBody>
      </p:sp>
      <p:sp>
        <p:nvSpPr>
          <p:cNvPr id="5" name="Shape 3"/>
          <p:cNvSpPr/>
          <p:nvPr/>
        </p:nvSpPr>
        <p:spPr>
          <a:xfrm>
            <a:off x="566928" y="2286000"/>
            <a:ext cx="2194560" cy="1051560"/>
          </a:xfrm>
          <a:prstGeom prst="roundRect">
            <a:avLst>
              <a:gd name="adj" fmla="val 869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6" name="Text 4"/>
          <p:cNvSpPr/>
          <p:nvPr/>
        </p:nvSpPr>
        <p:spPr>
          <a:xfrm>
            <a:off x="566928" y="2286000"/>
            <a:ext cx="2194560" cy="1051560"/>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Reference</a:t>
            </a:r>
            <a:endParaRPr lang="en-US" sz="1400" dirty="0"/>
          </a:p>
          <a:p>
            <a:pPr algn="ctr" indent="0" marL="0">
              <a:buNone/>
            </a:pPr>
            <a:r>
              <a:rPr lang="en-US" sz="1400" b="1" dirty="0">
                <a:solidFill>
                  <a:srgbClr val="0B2E36"/>
                </a:solidFill>
                <a:latin typeface="Calibri" pitchFamily="34" charset="0"/>
                <a:ea typeface="Calibri" pitchFamily="34" charset="-122"/>
                <a:cs typeface="Calibri" pitchFamily="34" charset="-120"/>
              </a:rPr>
              <a:t>genome</a:t>
            </a:r>
            <a:endParaRPr lang="en-US" sz="1400" dirty="0"/>
          </a:p>
        </p:txBody>
      </p:sp>
      <p:sp>
        <p:nvSpPr>
          <p:cNvPr id="7" name="Shape 5"/>
          <p:cNvSpPr/>
          <p:nvPr/>
        </p:nvSpPr>
        <p:spPr>
          <a:xfrm>
            <a:off x="3355848" y="2286000"/>
            <a:ext cx="2194560" cy="1051560"/>
          </a:xfrm>
          <a:prstGeom prst="roundRect">
            <a:avLst>
              <a:gd name="adj" fmla="val 8696"/>
            </a:avLst>
          </a:prstGeom>
          <a:solidFill>
            <a:srgbClr val="0E7C86"/>
          </a:solidFill>
          <a:ln w="12700">
            <a:solidFill>
              <a:srgbClr val="0E7C86"/>
            </a:solidFill>
            <a:prstDash val="solid"/>
          </a:ln>
          <a:effectLst>
            <a:outerShdw sx="100000" sy="100000" kx="0" ky="0" algn="bl" rotWithShape="0" blurRad="127000" dist="25400" dir="5400000">
              <a:srgbClr val="0B2E36">
                <a:alpha val="12000"/>
              </a:srgbClr>
            </a:outerShdw>
          </a:effectLst>
        </p:spPr>
      </p:sp>
      <p:sp>
        <p:nvSpPr>
          <p:cNvPr id="8" name="Text 6"/>
          <p:cNvSpPr/>
          <p:nvPr/>
        </p:nvSpPr>
        <p:spPr>
          <a:xfrm>
            <a:off x="3355848" y="2286000"/>
            <a:ext cx="219456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Mutated genome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 TRUTH list</a:t>
            </a:r>
            <a:endParaRPr lang="en-US" sz="1400" dirty="0"/>
          </a:p>
        </p:txBody>
      </p:sp>
      <p:sp>
        <p:nvSpPr>
          <p:cNvPr id="9" name="Shape 7"/>
          <p:cNvSpPr/>
          <p:nvPr/>
        </p:nvSpPr>
        <p:spPr>
          <a:xfrm>
            <a:off x="6144768" y="2286000"/>
            <a:ext cx="2194560" cy="1051560"/>
          </a:xfrm>
          <a:prstGeom prst="roundRect">
            <a:avLst>
              <a:gd name="adj" fmla="val 869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0" name="Text 8"/>
          <p:cNvSpPr/>
          <p:nvPr/>
        </p:nvSpPr>
        <p:spPr>
          <a:xfrm>
            <a:off x="6144768" y="2286000"/>
            <a:ext cx="2194560" cy="1051560"/>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Simulated</a:t>
            </a:r>
            <a:endParaRPr lang="en-US" sz="1400" dirty="0"/>
          </a:p>
          <a:p>
            <a:pPr algn="ctr" indent="0" marL="0">
              <a:buNone/>
            </a:pPr>
            <a:r>
              <a:rPr lang="en-US" sz="1400" b="1" dirty="0">
                <a:solidFill>
                  <a:srgbClr val="0B2E36"/>
                </a:solidFill>
                <a:latin typeface="Calibri" pitchFamily="34" charset="0"/>
                <a:ea typeface="Calibri" pitchFamily="34" charset="-122"/>
                <a:cs typeface="Calibri" pitchFamily="34" charset="-120"/>
              </a:rPr>
              <a:t>reads</a:t>
            </a:r>
            <a:endParaRPr lang="en-US" sz="1400" dirty="0"/>
          </a:p>
        </p:txBody>
      </p:sp>
      <p:sp>
        <p:nvSpPr>
          <p:cNvPr id="11" name="Shape 9"/>
          <p:cNvSpPr/>
          <p:nvPr/>
        </p:nvSpPr>
        <p:spPr>
          <a:xfrm>
            <a:off x="8933688" y="2286000"/>
            <a:ext cx="2194560" cy="1051560"/>
          </a:xfrm>
          <a:prstGeom prst="roundRect">
            <a:avLst>
              <a:gd name="adj" fmla="val 869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2" name="Text 10"/>
          <p:cNvSpPr/>
          <p:nvPr/>
        </p:nvSpPr>
        <p:spPr>
          <a:xfrm>
            <a:off x="8933688" y="2286000"/>
            <a:ext cx="2194560" cy="1051560"/>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Called</a:t>
            </a:r>
            <a:endParaRPr lang="en-US" sz="1400" dirty="0"/>
          </a:p>
          <a:p>
            <a:pPr algn="ctr" indent="0" marL="0">
              <a:buNone/>
            </a:pPr>
            <a:r>
              <a:rPr lang="en-US" sz="1400" b="1" dirty="0">
                <a:solidFill>
                  <a:srgbClr val="0B2E36"/>
                </a:solidFill>
                <a:latin typeface="Calibri" pitchFamily="34" charset="0"/>
                <a:ea typeface="Calibri" pitchFamily="34" charset="-122"/>
                <a:cs typeface="Calibri" pitchFamily="34" charset="-120"/>
              </a:rPr>
              <a:t>variants</a:t>
            </a:r>
            <a:endParaRPr lang="en-US" sz="1400" dirty="0"/>
          </a:p>
        </p:txBody>
      </p:sp>
      <p:sp>
        <p:nvSpPr>
          <p:cNvPr id="13" name="Shape 11"/>
          <p:cNvSpPr/>
          <p:nvPr/>
        </p:nvSpPr>
        <p:spPr>
          <a:xfrm>
            <a:off x="2825496" y="2679192"/>
            <a:ext cx="502920" cy="274320"/>
          </a:xfrm>
          <a:prstGeom prst="rightArrow">
            <a:avLst/>
          </a:prstGeom>
          <a:solidFill>
            <a:srgbClr val="5C7278"/>
          </a:solidFill>
          <a:ln w="12700">
            <a:solidFill>
              <a:srgbClr val="5C7278"/>
            </a:solidFill>
            <a:prstDash val="solid"/>
          </a:ln>
        </p:spPr>
      </p:sp>
      <p:sp>
        <p:nvSpPr>
          <p:cNvPr id="14" name="Text 12"/>
          <p:cNvSpPr/>
          <p:nvPr/>
        </p:nvSpPr>
        <p:spPr>
          <a:xfrm>
            <a:off x="2368296" y="3456432"/>
            <a:ext cx="1417320" cy="548640"/>
          </a:xfrm>
          <a:prstGeom prst="rect">
            <a:avLst/>
          </a:prstGeom>
          <a:noFill/>
          <a:ln/>
        </p:spPr>
        <p:txBody>
          <a:bodyPr wrap="square" lIns="0" tIns="0" rIns="0" bIns="0" rtlCol="0" anchor="ctr"/>
          <a:lstStyle/>
          <a:p>
            <a:pPr algn="ctr" indent="0" marL="0">
              <a:buNone/>
            </a:pPr>
            <a:r>
              <a:rPr lang="en-US" sz="1000" dirty="0">
                <a:solidFill>
                  <a:srgbClr val="5C7278"/>
                </a:solidFill>
                <a:latin typeface="Calibri" pitchFamily="34" charset="0"/>
                <a:ea typeface="Calibri" pitchFamily="34" charset="-122"/>
                <a:cs typeface="Calibri" pitchFamily="34" charset="-120"/>
              </a:rPr>
              <a:t>inject known</a:t>
            </a:r>
            <a:endParaRPr lang="en-US" sz="1000" dirty="0"/>
          </a:p>
          <a:p>
            <a:pPr algn="ctr" indent="0" marL="0">
              <a:buNone/>
            </a:pPr>
            <a:r>
              <a:rPr lang="en-US" sz="1000" dirty="0">
                <a:solidFill>
                  <a:srgbClr val="5C7278"/>
                </a:solidFill>
                <a:latin typeface="Calibri" pitchFamily="34" charset="0"/>
                <a:ea typeface="Calibri" pitchFamily="34" charset="-122"/>
                <a:cs typeface="Calibri" pitchFamily="34" charset="-120"/>
              </a:rPr>
              <a:t>SNPs + indels</a:t>
            </a:r>
            <a:endParaRPr lang="en-US" sz="1000" dirty="0"/>
          </a:p>
        </p:txBody>
      </p:sp>
      <p:sp>
        <p:nvSpPr>
          <p:cNvPr id="15" name="Shape 13"/>
          <p:cNvSpPr/>
          <p:nvPr/>
        </p:nvSpPr>
        <p:spPr>
          <a:xfrm>
            <a:off x="5614416" y="2679192"/>
            <a:ext cx="502920" cy="274320"/>
          </a:xfrm>
          <a:prstGeom prst="rightArrow">
            <a:avLst/>
          </a:prstGeom>
          <a:solidFill>
            <a:srgbClr val="E06C4F"/>
          </a:solidFill>
          <a:ln w="12700">
            <a:solidFill>
              <a:srgbClr val="E06C4F"/>
            </a:solidFill>
            <a:prstDash val="solid"/>
          </a:ln>
        </p:spPr>
      </p:sp>
      <p:sp>
        <p:nvSpPr>
          <p:cNvPr id="16" name="Text 14"/>
          <p:cNvSpPr/>
          <p:nvPr/>
        </p:nvSpPr>
        <p:spPr>
          <a:xfrm>
            <a:off x="5157216" y="3456432"/>
            <a:ext cx="1417320" cy="548640"/>
          </a:xfrm>
          <a:prstGeom prst="rect">
            <a:avLst/>
          </a:prstGeom>
          <a:noFill/>
          <a:ln/>
        </p:spPr>
        <p:txBody>
          <a:bodyPr wrap="square" lIns="0" tIns="0" rIns="0" bIns="0" rtlCol="0" anchor="ctr"/>
          <a:lstStyle/>
          <a:p>
            <a:pPr algn="ctr" indent="0" marL="0">
              <a:buNone/>
            </a:pPr>
            <a:r>
              <a:rPr lang="en-US" sz="1000" b="1" dirty="0">
                <a:solidFill>
                  <a:srgbClr val="E06C4F"/>
                </a:solidFill>
                <a:latin typeface="Calibri" pitchFamily="34" charset="0"/>
                <a:ea typeface="Calibri" pitchFamily="34" charset="-122"/>
                <a:cs typeface="Calibri" pitchFamily="34" charset="-120"/>
              </a:rPr>
              <a:t>simulate reads</a:t>
            </a:r>
            <a:endParaRPr lang="en-US" sz="1000" dirty="0"/>
          </a:p>
          <a:p>
            <a:pPr algn="ctr" indent="0" marL="0">
              <a:buNone/>
            </a:pPr>
            <a:r>
              <a:rPr lang="en-US" sz="1000" b="1" dirty="0">
                <a:solidFill>
                  <a:srgbClr val="E06C4F"/>
                </a:solidFill>
                <a:latin typeface="Calibri" pitchFamily="34" charset="0"/>
                <a:ea typeface="Calibri" pitchFamily="34" charset="-122"/>
                <a:cs typeface="Calibri" pitchFamily="34" charset="-120"/>
              </a:rPr>
              <a:t>FROM mutated</a:t>
            </a:r>
            <a:endParaRPr lang="en-US" sz="1000" dirty="0"/>
          </a:p>
        </p:txBody>
      </p:sp>
      <p:sp>
        <p:nvSpPr>
          <p:cNvPr id="17" name="Shape 15"/>
          <p:cNvSpPr/>
          <p:nvPr/>
        </p:nvSpPr>
        <p:spPr>
          <a:xfrm>
            <a:off x="8403336" y="2679192"/>
            <a:ext cx="502920" cy="274320"/>
          </a:xfrm>
          <a:prstGeom prst="rightArrow">
            <a:avLst/>
          </a:prstGeom>
          <a:solidFill>
            <a:srgbClr val="E06C4F"/>
          </a:solidFill>
          <a:ln w="12700">
            <a:solidFill>
              <a:srgbClr val="E06C4F"/>
            </a:solidFill>
            <a:prstDash val="solid"/>
          </a:ln>
        </p:spPr>
      </p:sp>
      <p:sp>
        <p:nvSpPr>
          <p:cNvPr id="18" name="Text 16"/>
          <p:cNvSpPr/>
          <p:nvPr/>
        </p:nvSpPr>
        <p:spPr>
          <a:xfrm>
            <a:off x="7946136" y="3456432"/>
            <a:ext cx="1417320" cy="548640"/>
          </a:xfrm>
          <a:prstGeom prst="rect">
            <a:avLst/>
          </a:prstGeom>
          <a:noFill/>
          <a:ln/>
        </p:spPr>
        <p:txBody>
          <a:bodyPr wrap="square" lIns="0" tIns="0" rIns="0" bIns="0" rtlCol="0" anchor="ctr"/>
          <a:lstStyle/>
          <a:p>
            <a:pPr algn="ctr" indent="0" marL="0">
              <a:buNone/>
            </a:pPr>
            <a:r>
              <a:rPr lang="en-US" sz="1000" b="1" dirty="0">
                <a:solidFill>
                  <a:srgbClr val="E06C4F"/>
                </a:solidFill>
                <a:latin typeface="Calibri" pitchFamily="34" charset="0"/>
                <a:ea typeface="Calibri" pitchFamily="34" charset="-122"/>
                <a:cs typeface="Calibri" pitchFamily="34" charset="-120"/>
              </a:rPr>
              <a:t>align TO the</a:t>
            </a:r>
            <a:endParaRPr lang="en-US" sz="1000" dirty="0"/>
          </a:p>
          <a:p>
            <a:pPr algn="ctr" indent="0" marL="0">
              <a:buNone/>
            </a:pPr>
            <a:r>
              <a:rPr lang="en-US" sz="1000" b="1" dirty="0">
                <a:solidFill>
                  <a:srgbClr val="E06C4F"/>
                </a:solidFill>
                <a:latin typeface="Calibri" pitchFamily="34" charset="0"/>
                <a:ea typeface="Calibri" pitchFamily="34" charset="-122"/>
                <a:cs typeface="Calibri" pitchFamily="34" charset="-120"/>
              </a:rPr>
              <a:t>ORIGINAL reference</a:t>
            </a:r>
            <a:endParaRPr lang="en-US" sz="1000" dirty="0"/>
          </a:p>
        </p:txBody>
      </p:sp>
      <p:sp>
        <p:nvSpPr>
          <p:cNvPr id="19" name="Shape 17"/>
          <p:cNvSpPr/>
          <p:nvPr/>
        </p:nvSpPr>
        <p:spPr>
          <a:xfrm>
            <a:off x="3355848" y="4279392"/>
            <a:ext cx="7772400" cy="45720"/>
          </a:xfrm>
          <a:prstGeom prst="roundRect">
            <a:avLst/>
          </a:prstGeom>
          <a:solidFill>
            <a:srgbClr val="3BC4A8"/>
          </a:solidFill>
          <a:ln w="12700">
            <a:solidFill>
              <a:srgbClr val="3BC4A8"/>
            </a:solidFill>
            <a:prstDash val="solid"/>
          </a:ln>
        </p:spPr>
      </p:sp>
      <p:sp>
        <p:nvSpPr>
          <p:cNvPr id="20" name="Text 18"/>
          <p:cNvSpPr/>
          <p:nvPr/>
        </p:nvSpPr>
        <p:spPr>
          <a:xfrm>
            <a:off x="3355848" y="4398264"/>
            <a:ext cx="7772400" cy="36576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compare  →  true positives · false positives · false negatives</a:t>
            </a:r>
            <a:endParaRPr lang="en-US" sz="1300" dirty="0"/>
          </a:p>
        </p:txBody>
      </p:sp>
      <p:sp>
        <p:nvSpPr>
          <p:cNvPr id="21" name="Shape 19"/>
          <p:cNvSpPr/>
          <p:nvPr/>
        </p:nvSpPr>
        <p:spPr>
          <a:xfrm>
            <a:off x="566928" y="5029200"/>
            <a:ext cx="10424160" cy="1097280"/>
          </a:xfrm>
          <a:prstGeom prst="roundRect">
            <a:avLst>
              <a:gd name="adj" fmla="val 6667"/>
            </a:avLst>
          </a:prstGeom>
          <a:solidFill>
            <a:srgbClr val="FDF0EC"/>
          </a:solidFill>
          <a:ln w="12700">
            <a:solidFill>
              <a:srgbClr val="FDF0EC"/>
            </a:solidFill>
            <a:prstDash val="solid"/>
          </a:ln>
          <a:effectLst>
            <a:outerShdw sx="100000" sy="100000" kx="0" ky="0" algn="bl" rotWithShape="0" blurRad="127000" dist="25400" dir="5400000">
              <a:srgbClr val="0B2E36">
                <a:alpha val="12000"/>
              </a:srgbClr>
            </a:outerShdw>
          </a:effectLst>
        </p:spPr>
      </p:sp>
      <p:sp>
        <p:nvSpPr>
          <p:cNvPr id="22" name="Text 20"/>
          <p:cNvSpPr/>
          <p:nvPr/>
        </p:nvSpPr>
        <p:spPr>
          <a:xfrm>
            <a:off x="886968" y="5212080"/>
            <a:ext cx="9784080" cy="731520"/>
          </a:xfrm>
          <a:prstGeom prst="rect">
            <a:avLst/>
          </a:prstGeom>
          <a:noFill/>
          <a:ln/>
        </p:spPr>
        <p:txBody>
          <a:bodyPr wrap="square" lIns="0" tIns="0" rIns="0" bIns="0" rtlCol="0" anchor="ctr"/>
          <a:lstStyle/>
          <a:p>
            <a:pPr indent="0" marL="0">
              <a:buNone/>
            </a:pPr>
            <a:r>
              <a:rPr lang="en-US" sz="1400" b="1" dirty="0">
                <a:solidFill>
                  <a:srgbClr val="E06C4F"/>
                </a:solidFill>
                <a:latin typeface="Calibri" pitchFamily="34" charset="0"/>
                <a:ea typeface="Calibri" pitchFamily="34" charset="-122"/>
                <a:cs typeface="Calibri" pitchFamily="34" charset="-120"/>
              </a:rPr>
              <a:t>The one thing to get right:  </a:t>
            </a:r>
            <a:pPr indent="0" marL="0">
              <a:buNone/>
            </a:pPr>
            <a:r>
              <a:rPr lang="en-US" sz="1400" dirty="0">
                <a:solidFill>
                  <a:srgbClr val="0B2E36"/>
                </a:solidFill>
                <a:latin typeface="Calibri" pitchFamily="34" charset="0"/>
                <a:ea typeface="Calibri" pitchFamily="34" charset="-122"/>
                <a:cs typeface="Calibri" pitchFamily="34" charset="-120"/>
              </a:rPr>
              <a:t>reads are simulated FROM the mutated genome and aligned TO the original reference. Invert it and every pipeline reports zero variants — and all nine look identical.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WHAT IS BEING COMPARED</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Experimental design</a:t>
            </a:r>
            <a:endParaRPr lang="en-US" sz="3400" dirty="0"/>
          </a:p>
        </p:txBody>
      </p:sp>
      <p:sp>
        <p:nvSpPr>
          <p:cNvPr id="4" name="Shape 2"/>
          <p:cNvSpPr/>
          <p:nvPr/>
        </p:nvSpPr>
        <p:spPr>
          <a:xfrm>
            <a:off x="566928" y="1572768"/>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5" name="Shape 3"/>
          <p:cNvSpPr/>
          <p:nvPr/>
        </p:nvSpPr>
        <p:spPr>
          <a:xfrm>
            <a:off x="795528" y="1828800"/>
            <a:ext cx="146304" cy="146304"/>
          </a:xfrm>
          <a:prstGeom prst="ellipse">
            <a:avLst/>
          </a:prstGeom>
          <a:solidFill>
            <a:srgbClr val="0E7C86"/>
          </a:solidFill>
          <a:ln w="12700">
            <a:solidFill>
              <a:srgbClr val="0E7C86"/>
            </a:solidFill>
            <a:prstDash val="solid"/>
          </a:ln>
        </p:spPr>
      </p:sp>
      <p:sp>
        <p:nvSpPr>
          <p:cNvPr id="6" name="Text 4"/>
          <p:cNvSpPr/>
          <p:nvPr/>
        </p:nvSpPr>
        <p:spPr>
          <a:xfrm>
            <a:off x="1042416" y="1737360"/>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Aligners</a:t>
            </a:r>
            <a:endParaRPr lang="en-US" sz="1300" dirty="0"/>
          </a:p>
        </p:txBody>
      </p:sp>
      <p:sp>
        <p:nvSpPr>
          <p:cNvPr id="7" name="Text 5"/>
          <p:cNvSpPr/>
          <p:nvPr/>
        </p:nvSpPr>
        <p:spPr>
          <a:xfrm>
            <a:off x="1042416" y="2084832"/>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BWA-MEM</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Bowtie2</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minimap2</a:t>
            </a:r>
            <a:endParaRPr lang="en-US" sz="1150" dirty="0"/>
          </a:p>
        </p:txBody>
      </p:sp>
      <p:sp>
        <p:nvSpPr>
          <p:cNvPr id="8" name="Shape 6"/>
          <p:cNvSpPr/>
          <p:nvPr/>
        </p:nvSpPr>
        <p:spPr>
          <a:xfrm>
            <a:off x="4178808" y="1572768"/>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9" name="Shape 7"/>
          <p:cNvSpPr/>
          <p:nvPr/>
        </p:nvSpPr>
        <p:spPr>
          <a:xfrm>
            <a:off x="4407408" y="1828800"/>
            <a:ext cx="146304" cy="146304"/>
          </a:xfrm>
          <a:prstGeom prst="ellipse">
            <a:avLst/>
          </a:prstGeom>
          <a:solidFill>
            <a:srgbClr val="0E7C86"/>
          </a:solidFill>
          <a:ln w="12700">
            <a:solidFill>
              <a:srgbClr val="0E7C86"/>
            </a:solidFill>
            <a:prstDash val="solid"/>
          </a:ln>
        </p:spPr>
      </p:sp>
      <p:sp>
        <p:nvSpPr>
          <p:cNvPr id="10" name="Text 8"/>
          <p:cNvSpPr/>
          <p:nvPr/>
        </p:nvSpPr>
        <p:spPr>
          <a:xfrm>
            <a:off x="4654296" y="1737360"/>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Callers</a:t>
            </a:r>
            <a:endParaRPr lang="en-US" sz="1300" dirty="0"/>
          </a:p>
        </p:txBody>
      </p:sp>
      <p:sp>
        <p:nvSpPr>
          <p:cNvPr id="11" name="Text 9"/>
          <p:cNvSpPr/>
          <p:nvPr/>
        </p:nvSpPr>
        <p:spPr>
          <a:xfrm>
            <a:off x="4654296" y="2084832"/>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GATK4 HaplotypeCaller</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FreeBayes</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BCFtools</a:t>
            </a:r>
            <a:endParaRPr lang="en-US" sz="1150" dirty="0"/>
          </a:p>
        </p:txBody>
      </p:sp>
      <p:sp>
        <p:nvSpPr>
          <p:cNvPr id="12" name="Shape 10"/>
          <p:cNvSpPr/>
          <p:nvPr/>
        </p:nvSpPr>
        <p:spPr>
          <a:xfrm>
            <a:off x="7790688" y="1572768"/>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3" name="Shape 11"/>
          <p:cNvSpPr/>
          <p:nvPr/>
        </p:nvSpPr>
        <p:spPr>
          <a:xfrm>
            <a:off x="8019288" y="1828800"/>
            <a:ext cx="146304" cy="146304"/>
          </a:xfrm>
          <a:prstGeom prst="ellipse">
            <a:avLst/>
          </a:prstGeom>
          <a:solidFill>
            <a:srgbClr val="3BC4A8"/>
          </a:solidFill>
          <a:ln w="12700">
            <a:solidFill>
              <a:srgbClr val="3BC4A8"/>
            </a:solidFill>
            <a:prstDash val="solid"/>
          </a:ln>
        </p:spPr>
      </p:sp>
      <p:sp>
        <p:nvSpPr>
          <p:cNvPr id="14" name="Text 12"/>
          <p:cNvSpPr/>
          <p:nvPr/>
        </p:nvSpPr>
        <p:spPr>
          <a:xfrm>
            <a:off x="8266176" y="1737360"/>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Genomes</a:t>
            </a:r>
            <a:endParaRPr lang="en-US" sz="1300" dirty="0"/>
          </a:p>
        </p:txBody>
      </p:sp>
      <p:sp>
        <p:nvSpPr>
          <p:cNvPr id="15" name="Text 13"/>
          <p:cNvSpPr/>
          <p:nvPr/>
        </p:nvSpPr>
        <p:spPr>
          <a:xfrm>
            <a:off x="8266176" y="2084832"/>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phiX174 — 5,386 bp</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E. coli K-12 — 4,641,652 bp</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both haploid</a:t>
            </a:r>
            <a:endParaRPr lang="en-US" sz="1150" dirty="0"/>
          </a:p>
        </p:txBody>
      </p:sp>
      <p:sp>
        <p:nvSpPr>
          <p:cNvPr id="16" name="Shape 14"/>
          <p:cNvSpPr/>
          <p:nvPr/>
        </p:nvSpPr>
        <p:spPr>
          <a:xfrm>
            <a:off x="566928" y="3145536"/>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7" name="Shape 15"/>
          <p:cNvSpPr/>
          <p:nvPr/>
        </p:nvSpPr>
        <p:spPr>
          <a:xfrm>
            <a:off x="795528" y="3401568"/>
            <a:ext cx="146304" cy="146304"/>
          </a:xfrm>
          <a:prstGeom prst="ellipse">
            <a:avLst/>
          </a:prstGeom>
          <a:solidFill>
            <a:srgbClr val="3BC4A8"/>
          </a:solidFill>
          <a:ln w="12700">
            <a:solidFill>
              <a:srgbClr val="3BC4A8"/>
            </a:solidFill>
            <a:prstDash val="solid"/>
          </a:ln>
        </p:spPr>
      </p:sp>
      <p:sp>
        <p:nvSpPr>
          <p:cNvPr id="18" name="Text 16"/>
          <p:cNvSpPr/>
          <p:nvPr/>
        </p:nvSpPr>
        <p:spPr>
          <a:xfrm>
            <a:off x="1042416" y="3310128"/>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Truth set</a:t>
            </a:r>
            <a:endParaRPr lang="en-US" sz="1300" dirty="0"/>
          </a:p>
        </p:txBody>
      </p:sp>
      <p:sp>
        <p:nvSpPr>
          <p:cNvPr id="19" name="Text 17"/>
          <p:cNvSpPr/>
          <p:nvPr/>
        </p:nvSpPr>
        <p:spPr>
          <a:xfrm>
            <a:off x="1042416" y="3657600"/>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phiX: 50 SNV + 10 indel</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E. coli: 5,000 + 1,000</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injected by simuG</a:t>
            </a:r>
            <a:endParaRPr lang="en-US" sz="1150" dirty="0"/>
          </a:p>
        </p:txBody>
      </p:sp>
      <p:sp>
        <p:nvSpPr>
          <p:cNvPr id="20" name="Shape 18"/>
          <p:cNvSpPr/>
          <p:nvPr/>
        </p:nvSpPr>
        <p:spPr>
          <a:xfrm>
            <a:off x="4178808" y="3145536"/>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21" name="Shape 19"/>
          <p:cNvSpPr/>
          <p:nvPr/>
        </p:nvSpPr>
        <p:spPr>
          <a:xfrm>
            <a:off x="4407408" y="3401568"/>
            <a:ext cx="146304" cy="146304"/>
          </a:xfrm>
          <a:prstGeom prst="ellipse">
            <a:avLst/>
          </a:prstGeom>
          <a:solidFill>
            <a:srgbClr val="E8A33D"/>
          </a:solidFill>
          <a:ln w="12700">
            <a:solidFill>
              <a:srgbClr val="E8A33D"/>
            </a:solidFill>
            <a:prstDash val="solid"/>
          </a:ln>
        </p:spPr>
      </p:sp>
      <p:sp>
        <p:nvSpPr>
          <p:cNvPr id="22" name="Text 20"/>
          <p:cNvSpPr/>
          <p:nvPr/>
        </p:nvSpPr>
        <p:spPr>
          <a:xfrm>
            <a:off x="4654296" y="3310128"/>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Baseline</a:t>
            </a:r>
            <a:endParaRPr lang="en-US" sz="1300" dirty="0"/>
          </a:p>
        </p:txBody>
      </p:sp>
      <p:sp>
        <p:nvSpPr>
          <p:cNvPr id="23" name="Text 21"/>
          <p:cNvSpPr/>
          <p:nvPr/>
        </p:nvSpPr>
        <p:spPr>
          <a:xfrm>
            <a:off x="4654296" y="3657600"/>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30× coverage</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150 bp paired-end</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HiSeq 2500 profile</a:t>
            </a:r>
            <a:endParaRPr lang="en-US" sz="1150" dirty="0"/>
          </a:p>
        </p:txBody>
      </p:sp>
      <p:sp>
        <p:nvSpPr>
          <p:cNvPr id="24" name="Shape 22"/>
          <p:cNvSpPr/>
          <p:nvPr/>
        </p:nvSpPr>
        <p:spPr>
          <a:xfrm>
            <a:off x="7790688" y="3145536"/>
            <a:ext cx="333756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25" name="Shape 23"/>
          <p:cNvSpPr/>
          <p:nvPr/>
        </p:nvSpPr>
        <p:spPr>
          <a:xfrm>
            <a:off x="8019288" y="3401568"/>
            <a:ext cx="146304" cy="146304"/>
          </a:xfrm>
          <a:prstGeom prst="ellipse">
            <a:avLst/>
          </a:prstGeom>
          <a:solidFill>
            <a:srgbClr val="E8A33D"/>
          </a:solidFill>
          <a:ln w="12700">
            <a:solidFill>
              <a:srgbClr val="E8A33D"/>
            </a:solidFill>
            <a:prstDash val="solid"/>
          </a:ln>
        </p:spPr>
      </p:sp>
      <p:sp>
        <p:nvSpPr>
          <p:cNvPr id="26" name="Text 24"/>
          <p:cNvSpPr/>
          <p:nvPr/>
        </p:nvSpPr>
        <p:spPr>
          <a:xfrm>
            <a:off x="8266176" y="3310128"/>
            <a:ext cx="2651760" cy="329184"/>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Scoring</a:t>
            </a:r>
            <a:endParaRPr lang="en-US" sz="1300" dirty="0"/>
          </a:p>
        </p:txBody>
      </p:sp>
      <p:sp>
        <p:nvSpPr>
          <p:cNvPr id="27" name="Text 25"/>
          <p:cNvSpPr/>
          <p:nvPr/>
        </p:nvSpPr>
        <p:spPr>
          <a:xfrm>
            <a:off x="8266176" y="3657600"/>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GA4GH standard</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rtg vcfeval</a:t>
            </a:r>
            <a:endParaRPr lang="en-US" sz="1150" dirty="0"/>
          </a:p>
          <a:p>
            <a:pPr indent="0" marL="0">
              <a:lnSpc>
                <a:spcPts val="1500"/>
              </a:lnSpc>
              <a:buNone/>
            </a:pPr>
            <a:r>
              <a:rPr lang="en-US" sz="1150" dirty="0">
                <a:solidFill>
                  <a:srgbClr val="5C7278"/>
                </a:solidFill>
                <a:latin typeface="Calibri" pitchFamily="34" charset="0"/>
                <a:ea typeface="Calibri" pitchFamily="34" charset="-122"/>
                <a:cs typeface="Calibri" pitchFamily="34" charset="-120"/>
              </a:rPr>
              <a:t>SNV and indel separately</a:t>
            </a:r>
            <a:endParaRPr lang="en-US" sz="1150" dirty="0"/>
          </a:p>
        </p:txBody>
      </p:sp>
      <p:sp>
        <p:nvSpPr>
          <p:cNvPr id="28" name="Shape 26"/>
          <p:cNvSpPr/>
          <p:nvPr/>
        </p:nvSpPr>
        <p:spPr>
          <a:xfrm>
            <a:off x="566928" y="4828032"/>
            <a:ext cx="11055096" cy="1298448"/>
          </a:xfrm>
          <a:prstGeom prst="roundRect">
            <a:avLst>
              <a:gd name="adj" fmla="val 5634"/>
            </a:avLst>
          </a:prstGeom>
          <a:solidFill>
            <a:srgbClr val="0B2E36"/>
          </a:solidFill>
          <a:ln w="12700">
            <a:solidFill>
              <a:srgbClr val="0B2E36"/>
            </a:solidFill>
            <a:prstDash val="solid"/>
          </a:ln>
          <a:effectLst>
            <a:outerShdw sx="100000" sy="100000" kx="0" ky="0" algn="bl" rotWithShape="0" blurRad="127000" dist="25400" dir="5400000">
              <a:srgbClr val="0B2E36">
                <a:alpha val="12000"/>
              </a:srgbClr>
            </a:outerShdw>
          </a:effectLst>
        </p:spPr>
      </p:sp>
      <p:sp>
        <p:nvSpPr>
          <p:cNvPr id="29" name="Text 27"/>
          <p:cNvSpPr/>
          <p:nvPr/>
        </p:nvSpPr>
        <p:spPr>
          <a:xfrm>
            <a:off x="886968" y="4983480"/>
            <a:ext cx="5486400" cy="274320"/>
          </a:xfrm>
          <a:prstGeom prst="rect">
            <a:avLst/>
          </a:prstGeom>
          <a:noFill/>
          <a:ln/>
        </p:spPr>
        <p:txBody>
          <a:bodyPr wrap="square" lIns="0" tIns="0" rIns="0" bIns="0" rtlCol="0" anchor="ctr"/>
          <a:lstStyle/>
          <a:p>
            <a:pPr indent="0" marL="0">
              <a:buNone/>
            </a:pPr>
            <a:r>
              <a:rPr lang="en-US" sz="1100" b="1" spc="150" kern="0" dirty="0">
                <a:solidFill>
                  <a:srgbClr val="3BC4A8"/>
                </a:solidFill>
                <a:latin typeface="Calibri" pitchFamily="34" charset="0"/>
                <a:ea typeface="Calibri" pitchFamily="34" charset="-122"/>
                <a:cs typeface="Calibri" pitchFamily="34" charset="-120"/>
              </a:rPr>
              <a:t>HELD CONSTANT SO THE COMPARISON IS FAIR</a:t>
            </a:r>
            <a:endParaRPr lang="en-US" sz="1100" dirty="0"/>
          </a:p>
        </p:txBody>
      </p:sp>
      <p:sp>
        <p:nvSpPr>
          <p:cNvPr id="30" name="Text 28"/>
          <p:cNvSpPr/>
          <p:nvPr/>
        </p:nvSpPr>
        <p:spPr>
          <a:xfrm>
            <a:off x="886968" y="5321808"/>
            <a:ext cx="1042416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Byte-identical reads to all nine pipelines  ·  identical thread count  ·  identical filter logic  ·  no read trimming  ·  no BQSR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One command, end to end</a:t>
            </a:r>
            <a:endParaRPr lang="en-US" sz="3400" dirty="0"/>
          </a:p>
        </p:txBody>
      </p:sp>
      <p:pic>
        <p:nvPicPr>
          <p:cNvPr id="4" name="Image 0" descr="/Users/rash/Documents/Files/Self/College/Semester 7/DNA/project/itr1/docs/img/rulegraph.png">    </p:cNvPr>
          <p:cNvPicPr>
            <a:picLocks noChangeAspect="1"/>
          </p:cNvPicPr>
          <p:nvPr/>
        </p:nvPicPr>
        <p:blipFill>
          <a:blip r:embed="rId1"/>
          <a:stretch>
            <a:fillRect/>
          </a:stretch>
        </p:blipFill>
        <p:spPr>
          <a:xfrm>
            <a:off x="566928" y="1481328"/>
            <a:ext cx="11055096" cy="2359152"/>
          </a:xfrm>
          <a:prstGeom prst="rect">
            <a:avLst/>
          </a:prstGeom>
        </p:spPr>
      </p:pic>
      <p:sp>
        <p:nvSpPr>
          <p:cNvPr id="5" name="Shape 2"/>
          <p:cNvSpPr/>
          <p:nvPr/>
        </p:nvSpPr>
        <p:spPr>
          <a:xfrm>
            <a:off x="566928" y="4114800"/>
            <a:ext cx="3429000" cy="1737360"/>
          </a:xfrm>
          <a:prstGeom prst="roundRect">
            <a:avLst>
              <a:gd name="adj" fmla="val 4211"/>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6" name="Shape 3"/>
          <p:cNvSpPr/>
          <p:nvPr/>
        </p:nvSpPr>
        <p:spPr>
          <a:xfrm>
            <a:off x="822960" y="4343400"/>
            <a:ext cx="420624" cy="420624"/>
          </a:xfrm>
          <a:prstGeom prst="ellipse">
            <a:avLst/>
          </a:prstGeom>
          <a:solidFill>
            <a:srgbClr val="0E7C86"/>
          </a:solidFill>
          <a:ln w="12700">
            <a:solidFill>
              <a:srgbClr val="0E7C86"/>
            </a:solidFill>
            <a:prstDash val="solid"/>
          </a:ln>
        </p:spPr>
      </p:sp>
      <p:sp>
        <p:nvSpPr>
          <p:cNvPr id="7" name="Text 4"/>
          <p:cNvSpPr/>
          <p:nvPr/>
        </p:nvSpPr>
        <p:spPr>
          <a:xfrm>
            <a:off x="822960"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344168" y="4370832"/>
            <a:ext cx="2560320" cy="320040"/>
          </a:xfrm>
          <a:prstGeom prst="rect">
            <a:avLst/>
          </a:prstGeom>
          <a:noFill/>
          <a:ln/>
        </p:spPr>
        <p:txBody>
          <a:bodyPr wrap="square" lIns="0" tIns="0" rIns="0" bIns="0" rtlCol="0" anchor="ctr"/>
          <a:lstStyle/>
          <a:p>
            <a:pPr indent="0" marL="0">
              <a:buNone/>
            </a:pPr>
            <a:r>
              <a:rPr lang="en-US" sz="1400" b="1" dirty="0">
                <a:solidFill>
                  <a:srgbClr val="0B2E36"/>
                </a:solidFill>
                <a:latin typeface="Calibri" pitchFamily="34" charset="0"/>
                <a:ea typeface="Calibri" pitchFamily="34" charset="-122"/>
                <a:cs typeface="Calibri" pitchFamily="34" charset="-120"/>
              </a:rPr>
              <a:t>Implemented twice</a:t>
            </a:r>
            <a:endParaRPr lang="en-US" sz="1400" dirty="0"/>
          </a:p>
        </p:txBody>
      </p:sp>
      <p:sp>
        <p:nvSpPr>
          <p:cNvPr id="9" name="Text 6"/>
          <p:cNvSpPr/>
          <p:nvPr/>
        </p:nvSpPr>
        <p:spPr>
          <a:xfrm>
            <a:off x="822960" y="4846320"/>
            <a:ext cx="2926080" cy="868680"/>
          </a:xfrm>
          <a:prstGeom prst="rect">
            <a:avLst/>
          </a:prstGeom>
          <a:noFill/>
          <a:ln/>
        </p:spPr>
        <p:txBody>
          <a:bodyPr wrap="square" lIns="0" tIns="0" rIns="0" bIns="0" rtlCol="0" anchor="ctr"/>
          <a:lstStyle/>
          <a:p>
            <a:pPr indent="0" marL="0">
              <a:lnSpc>
                <a:spcPts val="1500"/>
              </a:lnSpc>
              <a:buNone/>
            </a:pPr>
            <a:r>
              <a:rPr lang="en-US" sz="1200" dirty="0">
                <a:solidFill>
                  <a:srgbClr val="5C7278"/>
                </a:solidFill>
                <a:latin typeface="Calibri" pitchFamily="34" charset="0"/>
                <a:ea typeface="Calibri" pitchFamily="34" charset="-122"/>
                <a:cs typeface="Calibri" pitchFamily="34" charset="-120"/>
              </a:rPr>
              <a:t>Shell scripts first, then a Snakemake workflow — independently written</a:t>
            </a:r>
            <a:endParaRPr lang="en-US" sz="1200" dirty="0"/>
          </a:p>
        </p:txBody>
      </p:sp>
      <p:sp>
        <p:nvSpPr>
          <p:cNvPr id="10" name="Shape 7"/>
          <p:cNvSpPr/>
          <p:nvPr/>
        </p:nvSpPr>
        <p:spPr>
          <a:xfrm>
            <a:off x="4251960" y="4114800"/>
            <a:ext cx="3429000" cy="1737360"/>
          </a:xfrm>
          <a:prstGeom prst="roundRect">
            <a:avLst>
              <a:gd name="adj" fmla="val 4211"/>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1" name="Shape 8"/>
          <p:cNvSpPr/>
          <p:nvPr/>
        </p:nvSpPr>
        <p:spPr>
          <a:xfrm>
            <a:off x="4507992" y="4343400"/>
            <a:ext cx="420624" cy="420624"/>
          </a:xfrm>
          <a:prstGeom prst="ellipse">
            <a:avLst/>
          </a:prstGeom>
          <a:solidFill>
            <a:srgbClr val="0E7C86"/>
          </a:solidFill>
          <a:ln w="12700">
            <a:solidFill>
              <a:srgbClr val="0E7C86"/>
            </a:solidFill>
            <a:prstDash val="solid"/>
          </a:ln>
        </p:spPr>
      </p:sp>
      <p:sp>
        <p:nvSpPr>
          <p:cNvPr id="12" name="Text 9"/>
          <p:cNvSpPr/>
          <p:nvPr/>
        </p:nvSpPr>
        <p:spPr>
          <a:xfrm>
            <a:off x="4507992"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5029200" y="4370832"/>
            <a:ext cx="2560320" cy="320040"/>
          </a:xfrm>
          <a:prstGeom prst="rect">
            <a:avLst/>
          </a:prstGeom>
          <a:noFill/>
          <a:ln/>
        </p:spPr>
        <p:txBody>
          <a:bodyPr wrap="square" lIns="0" tIns="0" rIns="0" bIns="0" rtlCol="0" anchor="ctr"/>
          <a:lstStyle/>
          <a:p>
            <a:pPr indent="0" marL="0">
              <a:buNone/>
            </a:pPr>
            <a:r>
              <a:rPr lang="en-US" sz="1400" b="1" dirty="0">
                <a:solidFill>
                  <a:srgbClr val="0B2E36"/>
                </a:solidFill>
                <a:latin typeface="Calibri" pitchFamily="34" charset="0"/>
                <a:ea typeface="Calibri" pitchFamily="34" charset="-122"/>
                <a:cs typeface="Calibri" pitchFamily="34" charset="-120"/>
              </a:rPr>
              <a:t>Reproduces byte-for-byte</a:t>
            </a:r>
            <a:endParaRPr lang="en-US" sz="1400" dirty="0"/>
          </a:p>
        </p:txBody>
      </p:sp>
      <p:sp>
        <p:nvSpPr>
          <p:cNvPr id="14" name="Text 11"/>
          <p:cNvSpPr/>
          <p:nvPr/>
        </p:nvSpPr>
        <p:spPr>
          <a:xfrm>
            <a:off x="4507992" y="4846320"/>
            <a:ext cx="2926080" cy="868680"/>
          </a:xfrm>
          <a:prstGeom prst="rect">
            <a:avLst/>
          </a:prstGeom>
          <a:noFill/>
          <a:ln/>
        </p:spPr>
        <p:txBody>
          <a:bodyPr wrap="square" lIns="0" tIns="0" rIns="0" bIns="0" rtlCol="0" anchor="ctr"/>
          <a:lstStyle/>
          <a:p>
            <a:pPr indent="0" marL="0">
              <a:lnSpc>
                <a:spcPts val="1500"/>
              </a:lnSpc>
              <a:buNone/>
            </a:pPr>
            <a:r>
              <a:rPr lang="en-US" sz="1200" dirty="0">
                <a:solidFill>
                  <a:srgbClr val="5C7278"/>
                </a:solidFill>
                <a:latin typeface="Calibri" pitchFamily="34" charset="0"/>
                <a:ea typeface="Calibri" pitchFamily="34" charset="-122"/>
                <a:cs typeface="Calibri" pitchFamily="34" charset="-120"/>
              </a:rPr>
              <a:t>Rebuilt from scratch, the workflow reproduced the script results exactly</a:t>
            </a:r>
            <a:endParaRPr lang="en-US" sz="1200" dirty="0"/>
          </a:p>
        </p:txBody>
      </p:sp>
      <p:sp>
        <p:nvSpPr>
          <p:cNvPr id="15" name="Shape 12"/>
          <p:cNvSpPr/>
          <p:nvPr/>
        </p:nvSpPr>
        <p:spPr>
          <a:xfrm>
            <a:off x="7936992" y="4114800"/>
            <a:ext cx="3429000" cy="1737360"/>
          </a:xfrm>
          <a:prstGeom prst="roundRect">
            <a:avLst>
              <a:gd name="adj" fmla="val 4211"/>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6" name="Shape 13"/>
          <p:cNvSpPr/>
          <p:nvPr/>
        </p:nvSpPr>
        <p:spPr>
          <a:xfrm>
            <a:off x="8193024" y="4343400"/>
            <a:ext cx="420624" cy="420624"/>
          </a:xfrm>
          <a:prstGeom prst="ellipse">
            <a:avLst/>
          </a:prstGeom>
          <a:solidFill>
            <a:srgbClr val="0E7C86"/>
          </a:solidFill>
          <a:ln w="12700">
            <a:solidFill>
              <a:srgbClr val="0E7C86"/>
            </a:solidFill>
            <a:prstDash val="solid"/>
          </a:ln>
        </p:spPr>
      </p:sp>
      <p:sp>
        <p:nvSpPr>
          <p:cNvPr id="17" name="Text 14"/>
          <p:cNvSpPr/>
          <p:nvPr/>
        </p:nvSpPr>
        <p:spPr>
          <a:xfrm>
            <a:off x="8193024"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8714232" y="4370832"/>
            <a:ext cx="2560320" cy="320040"/>
          </a:xfrm>
          <a:prstGeom prst="rect">
            <a:avLst/>
          </a:prstGeom>
          <a:noFill/>
          <a:ln/>
        </p:spPr>
        <p:txBody>
          <a:bodyPr wrap="square" lIns="0" tIns="0" rIns="0" bIns="0" rtlCol="0" anchor="ctr"/>
          <a:lstStyle/>
          <a:p>
            <a:pPr indent="0" marL="0">
              <a:buNone/>
            </a:pPr>
            <a:r>
              <a:rPr lang="en-US" sz="1400" b="1" dirty="0">
                <a:solidFill>
                  <a:srgbClr val="0B2E36"/>
                </a:solidFill>
                <a:latin typeface="Calibri" pitchFamily="34" charset="0"/>
                <a:ea typeface="Calibri" pitchFamily="34" charset="-122"/>
                <a:cs typeface="Calibri" pitchFamily="34" charset="-120"/>
              </a:rPr>
              <a:t>Sweep already wired</a:t>
            </a:r>
            <a:endParaRPr lang="en-US" sz="1400" dirty="0"/>
          </a:p>
        </p:txBody>
      </p:sp>
      <p:sp>
        <p:nvSpPr>
          <p:cNvPr id="19" name="Text 16"/>
          <p:cNvSpPr/>
          <p:nvPr/>
        </p:nvSpPr>
        <p:spPr>
          <a:xfrm>
            <a:off x="8193024" y="4846320"/>
            <a:ext cx="2926080" cy="868680"/>
          </a:xfrm>
          <a:prstGeom prst="rect">
            <a:avLst/>
          </a:prstGeom>
          <a:noFill/>
          <a:ln/>
        </p:spPr>
        <p:txBody>
          <a:bodyPr wrap="square" lIns="0" tIns="0" rIns="0" bIns="0" rtlCol="0" anchor="ctr"/>
          <a:lstStyle/>
          <a:p>
            <a:pPr indent="0" marL="0">
              <a:lnSpc>
                <a:spcPts val="1500"/>
              </a:lnSpc>
              <a:buNone/>
            </a:pPr>
            <a:r>
              <a:rPr lang="en-US" sz="1200" dirty="0">
                <a:solidFill>
                  <a:srgbClr val="5C7278"/>
                </a:solidFill>
                <a:latin typeface="Calibri" pitchFamily="34" charset="0"/>
                <a:ea typeface="Calibri" pitchFamily="34" charset="-122"/>
                <a:cs typeface="Calibri" pitchFamily="34" charset="-120"/>
              </a:rPr>
              <a:t>990-run parameter sweep resolves; only the baseline has been executed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PROGRESS</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Where the project stands</a:t>
            </a:r>
            <a:endParaRPr lang="en-US" sz="3400" dirty="0"/>
          </a:p>
        </p:txBody>
      </p:sp>
      <p:sp>
        <p:nvSpPr>
          <p:cNvPr id="4" name="Shape 2"/>
          <p:cNvSpPr/>
          <p:nvPr/>
        </p:nvSpPr>
        <p:spPr>
          <a:xfrm>
            <a:off x="566928" y="1572768"/>
            <a:ext cx="274320" cy="274320"/>
          </a:xfrm>
          <a:prstGeom prst="ellipse">
            <a:avLst/>
          </a:prstGeom>
          <a:solidFill>
            <a:srgbClr val="3BC4A8"/>
          </a:solidFill>
          <a:ln w="12700">
            <a:solidFill>
              <a:srgbClr val="3BC4A8"/>
            </a:solidFill>
            <a:prstDash val="solid"/>
          </a:ln>
        </p:spPr>
      </p:sp>
      <p:sp>
        <p:nvSpPr>
          <p:cNvPr id="5" name="Text 3"/>
          <p:cNvSpPr/>
          <p:nvPr/>
        </p:nvSpPr>
        <p:spPr>
          <a:xfrm>
            <a:off x="566928" y="15727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978408" y="1572768"/>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Environment, tools, reference genomes</a:t>
            </a:r>
            <a:endParaRPr lang="en-US" sz="1400" dirty="0"/>
          </a:p>
        </p:txBody>
      </p:sp>
      <p:sp>
        <p:nvSpPr>
          <p:cNvPr id="7" name="Shape 5"/>
          <p:cNvSpPr/>
          <p:nvPr/>
        </p:nvSpPr>
        <p:spPr>
          <a:xfrm>
            <a:off x="566928" y="2048256"/>
            <a:ext cx="274320" cy="274320"/>
          </a:xfrm>
          <a:prstGeom prst="ellipse">
            <a:avLst/>
          </a:prstGeom>
          <a:solidFill>
            <a:srgbClr val="3BC4A8"/>
          </a:solidFill>
          <a:ln w="12700">
            <a:solidFill>
              <a:srgbClr val="3BC4A8"/>
            </a:solidFill>
            <a:prstDash val="solid"/>
          </a:ln>
        </p:spPr>
      </p:sp>
      <p:sp>
        <p:nvSpPr>
          <p:cNvPr id="8" name="Text 6"/>
          <p:cNvSpPr/>
          <p:nvPr/>
        </p:nvSpPr>
        <p:spPr>
          <a:xfrm>
            <a:off x="566928" y="204825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78408" y="2048256"/>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Truth sets generated and verified</a:t>
            </a:r>
            <a:endParaRPr lang="en-US" sz="1400" dirty="0"/>
          </a:p>
        </p:txBody>
      </p:sp>
      <p:sp>
        <p:nvSpPr>
          <p:cNvPr id="10" name="Shape 8"/>
          <p:cNvSpPr/>
          <p:nvPr/>
        </p:nvSpPr>
        <p:spPr>
          <a:xfrm>
            <a:off x="566928" y="2523744"/>
            <a:ext cx="274320" cy="274320"/>
          </a:xfrm>
          <a:prstGeom prst="ellipse">
            <a:avLst/>
          </a:prstGeom>
          <a:solidFill>
            <a:srgbClr val="3BC4A8"/>
          </a:solidFill>
          <a:ln w="12700">
            <a:solidFill>
              <a:srgbClr val="3BC4A8"/>
            </a:solidFill>
            <a:prstDash val="solid"/>
          </a:ln>
        </p:spPr>
      </p:sp>
      <p:sp>
        <p:nvSpPr>
          <p:cNvPr id="11" name="Text 9"/>
          <p:cNvSpPr/>
          <p:nvPr/>
        </p:nvSpPr>
        <p:spPr>
          <a:xfrm>
            <a:off x="566928" y="25237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78408" y="2523744"/>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Read simulation and quality control</a:t>
            </a:r>
            <a:endParaRPr lang="en-US" sz="1400" dirty="0"/>
          </a:p>
        </p:txBody>
      </p:sp>
      <p:sp>
        <p:nvSpPr>
          <p:cNvPr id="13" name="Shape 11"/>
          <p:cNvSpPr/>
          <p:nvPr/>
        </p:nvSpPr>
        <p:spPr>
          <a:xfrm>
            <a:off x="566928" y="2999232"/>
            <a:ext cx="274320" cy="274320"/>
          </a:xfrm>
          <a:prstGeom prst="ellipse">
            <a:avLst/>
          </a:prstGeom>
          <a:solidFill>
            <a:srgbClr val="3BC4A8"/>
          </a:solidFill>
          <a:ln w="12700">
            <a:solidFill>
              <a:srgbClr val="3BC4A8"/>
            </a:solidFill>
            <a:prstDash val="solid"/>
          </a:ln>
        </p:spPr>
      </p:sp>
      <p:sp>
        <p:nvSpPr>
          <p:cNvPr id="14" name="Text 12"/>
          <p:cNvSpPr/>
          <p:nvPr/>
        </p:nvSpPr>
        <p:spPr>
          <a:xfrm>
            <a:off x="566928" y="29992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78408" y="2999232"/>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Alignment + alignment metrics</a:t>
            </a:r>
            <a:endParaRPr lang="en-US" sz="1400" dirty="0"/>
          </a:p>
        </p:txBody>
      </p:sp>
      <p:sp>
        <p:nvSpPr>
          <p:cNvPr id="16" name="Shape 14"/>
          <p:cNvSpPr/>
          <p:nvPr/>
        </p:nvSpPr>
        <p:spPr>
          <a:xfrm>
            <a:off x="6144768" y="1572768"/>
            <a:ext cx="274320" cy="274320"/>
          </a:xfrm>
          <a:prstGeom prst="ellipse">
            <a:avLst/>
          </a:prstGeom>
          <a:solidFill>
            <a:srgbClr val="3BC4A8"/>
          </a:solidFill>
          <a:ln w="12700">
            <a:solidFill>
              <a:srgbClr val="3BC4A8"/>
            </a:solidFill>
            <a:prstDash val="solid"/>
          </a:ln>
        </p:spPr>
      </p:sp>
      <p:sp>
        <p:nvSpPr>
          <p:cNvPr id="17" name="Text 15"/>
          <p:cNvSpPr/>
          <p:nvPr/>
        </p:nvSpPr>
        <p:spPr>
          <a:xfrm>
            <a:off x="6144768" y="15727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6556248" y="1572768"/>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Variant calling, all 9 pipelines</a:t>
            </a:r>
            <a:endParaRPr lang="en-US" sz="1400" dirty="0"/>
          </a:p>
        </p:txBody>
      </p:sp>
      <p:sp>
        <p:nvSpPr>
          <p:cNvPr id="19" name="Shape 17"/>
          <p:cNvSpPr/>
          <p:nvPr/>
        </p:nvSpPr>
        <p:spPr>
          <a:xfrm>
            <a:off x="6144768" y="2048256"/>
            <a:ext cx="274320" cy="274320"/>
          </a:xfrm>
          <a:prstGeom prst="ellipse">
            <a:avLst/>
          </a:prstGeom>
          <a:solidFill>
            <a:srgbClr val="3BC4A8"/>
          </a:solidFill>
          <a:ln w="12700">
            <a:solidFill>
              <a:srgbClr val="3BC4A8"/>
            </a:solidFill>
            <a:prstDash val="solid"/>
          </a:ln>
        </p:spPr>
      </p:sp>
      <p:sp>
        <p:nvSpPr>
          <p:cNvPr id="20" name="Text 18"/>
          <p:cNvSpPr/>
          <p:nvPr/>
        </p:nvSpPr>
        <p:spPr>
          <a:xfrm>
            <a:off x="6144768" y="204825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556248" y="2048256"/>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GA4GH scoring, ROC analysis</a:t>
            </a:r>
            <a:endParaRPr lang="en-US" sz="1400" dirty="0"/>
          </a:p>
        </p:txBody>
      </p:sp>
      <p:sp>
        <p:nvSpPr>
          <p:cNvPr id="22" name="Shape 20"/>
          <p:cNvSpPr/>
          <p:nvPr/>
        </p:nvSpPr>
        <p:spPr>
          <a:xfrm>
            <a:off x="6144768" y="2523744"/>
            <a:ext cx="274320" cy="274320"/>
          </a:xfrm>
          <a:prstGeom prst="ellipse">
            <a:avLst/>
          </a:prstGeom>
          <a:solidFill>
            <a:srgbClr val="3BC4A8"/>
          </a:solidFill>
          <a:ln w="12700">
            <a:solidFill>
              <a:srgbClr val="3BC4A8"/>
            </a:solidFill>
            <a:prstDash val="solid"/>
          </a:ln>
        </p:spPr>
      </p:sp>
      <p:sp>
        <p:nvSpPr>
          <p:cNvPr id="23" name="Text 21"/>
          <p:cNvSpPr/>
          <p:nvPr/>
        </p:nvSpPr>
        <p:spPr>
          <a:xfrm>
            <a:off x="6144768" y="25237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6556248" y="2523744"/>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Reproducible workflow + sweep design</a:t>
            </a:r>
            <a:endParaRPr lang="en-US" sz="1400" dirty="0"/>
          </a:p>
        </p:txBody>
      </p:sp>
      <p:sp>
        <p:nvSpPr>
          <p:cNvPr id="25" name="Text 23"/>
          <p:cNvSpPr/>
          <p:nvPr/>
        </p:nvSpPr>
        <p:spPr>
          <a:xfrm>
            <a:off x="6144768" y="3017520"/>
            <a:ext cx="45720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STILL TO COME</a:t>
            </a:r>
            <a:endParaRPr lang="en-US" sz="1100" dirty="0"/>
          </a:p>
        </p:txBody>
      </p:sp>
      <p:sp>
        <p:nvSpPr>
          <p:cNvPr id="26" name="Shape 24"/>
          <p:cNvSpPr/>
          <p:nvPr/>
        </p:nvSpPr>
        <p:spPr>
          <a:xfrm>
            <a:off x="6144768" y="3310128"/>
            <a:ext cx="274320" cy="274320"/>
          </a:xfrm>
          <a:prstGeom prst="ellipse">
            <a:avLst/>
          </a:prstGeom>
          <a:solidFill>
            <a:srgbClr val="E8A33D"/>
          </a:solidFill>
          <a:ln w="12700">
            <a:solidFill>
              <a:srgbClr val="E8A33D"/>
            </a:solidFill>
            <a:prstDash val="solid"/>
          </a:ln>
        </p:spPr>
      </p:sp>
      <p:sp>
        <p:nvSpPr>
          <p:cNvPr id="27" name="Text 25"/>
          <p:cNvSpPr/>
          <p:nvPr/>
        </p:nvSpPr>
        <p:spPr>
          <a:xfrm>
            <a:off x="6144768" y="331012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6556248" y="3310128"/>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Parameter sweep executed</a:t>
            </a:r>
            <a:endParaRPr lang="en-US" sz="1400" dirty="0"/>
          </a:p>
        </p:txBody>
      </p:sp>
      <p:sp>
        <p:nvSpPr>
          <p:cNvPr id="29" name="Shape 27"/>
          <p:cNvSpPr/>
          <p:nvPr/>
        </p:nvSpPr>
        <p:spPr>
          <a:xfrm>
            <a:off x="6144768" y="3785616"/>
            <a:ext cx="274320" cy="274320"/>
          </a:xfrm>
          <a:prstGeom prst="ellipse">
            <a:avLst/>
          </a:prstGeom>
          <a:solidFill>
            <a:srgbClr val="E8A33D"/>
          </a:solidFill>
          <a:ln w="12700">
            <a:solidFill>
              <a:srgbClr val="E8A33D"/>
            </a:solidFill>
            <a:prstDash val="solid"/>
          </a:ln>
        </p:spPr>
      </p:sp>
      <p:sp>
        <p:nvSpPr>
          <p:cNvPr id="30" name="Text 28"/>
          <p:cNvSpPr/>
          <p:nvPr/>
        </p:nvSpPr>
        <p:spPr>
          <a:xfrm>
            <a:off x="6144768" y="378561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6556248" y="3785616"/>
            <a:ext cx="4663440" cy="274320"/>
          </a:xfrm>
          <a:prstGeom prst="rect">
            <a:avLst/>
          </a:prstGeom>
          <a:noFill/>
          <a:ln/>
        </p:spPr>
        <p:txBody>
          <a:bodyPr wrap="square" lIns="0" tIns="0" rIns="0" bIns="0" rtlCol="0" anchor="ctr"/>
          <a:lstStyle/>
          <a:p>
            <a:pPr indent="0" marL="0">
              <a:buNone/>
            </a:pPr>
            <a:r>
              <a:rPr lang="en-US" sz="1400" dirty="0">
                <a:solidFill>
                  <a:srgbClr val="0B2E36"/>
                </a:solidFill>
                <a:latin typeface="Calibri" pitchFamily="34" charset="0"/>
                <a:ea typeface="Calibri" pitchFamily="34" charset="-122"/>
                <a:cs typeface="Calibri" pitchFamily="34" charset="-120"/>
              </a:rPr>
              <a:t>Predictive model fitted</a:t>
            </a:r>
            <a:endParaRPr lang="en-US" sz="1400" dirty="0"/>
          </a:p>
        </p:txBody>
      </p:sp>
      <p:sp>
        <p:nvSpPr>
          <p:cNvPr id="32" name="Shape 30"/>
          <p:cNvSpPr/>
          <p:nvPr/>
        </p:nvSpPr>
        <p:spPr>
          <a:xfrm>
            <a:off x="566928" y="4315968"/>
            <a:ext cx="11055096" cy="1572768"/>
          </a:xfrm>
          <a:prstGeom prst="roundRect">
            <a:avLst>
              <a:gd name="adj" fmla="val 4651"/>
            </a:avLst>
          </a:prstGeom>
          <a:solidFill>
            <a:srgbClr val="0B2E36"/>
          </a:solidFill>
          <a:ln w="12700">
            <a:solidFill>
              <a:srgbClr val="0B2E36"/>
            </a:solidFill>
            <a:prstDash val="solid"/>
          </a:ln>
          <a:effectLst>
            <a:outerShdw sx="100000" sy="100000" kx="0" ky="0" algn="bl" rotWithShape="0" blurRad="127000" dist="25400" dir="5400000">
              <a:srgbClr val="0B2E36">
                <a:alpha val="12000"/>
              </a:srgbClr>
            </a:outerShdw>
          </a:effectLst>
        </p:spPr>
      </p:sp>
      <p:sp>
        <p:nvSpPr>
          <p:cNvPr id="33" name="Text 31"/>
          <p:cNvSpPr/>
          <p:nvPr/>
        </p:nvSpPr>
        <p:spPr>
          <a:xfrm>
            <a:off x="932688" y="4480560"/>
            <a:ext cx="103327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sweep has not run yet — but its cost is measured, not guessed</a:t>
            </a:r>
            <a:endParaRPr lang="en-US" sz="1500" dirty="0"/>
          </a:p>
        </p:txBody>
      </p:sp>
      <p:sp>
        <p:nvSpPr>
          <p:cNvPr id="34" name="Text 32"/>
          <p:cNvSpPr/>
          <p:nvPr/>
        </p:nvSpPr>
        <p:spPr>
          <a:xfrm>
            <a:off x="932688" y="4901184"/>
            <a:ext cx="3291840" cy="548640"/>
          </a:xfrm>
          <a:prstGeom prst="rect">
            <a:avLst/>
          </a:prstGeom>
          <a:noFill/>
          <a:ln/>
        </p:spPr>
        <p:txBody>
          <a:bodyPr wrap="square" lIns="0" tIns="0" rIns="0" bIns="0" rtlCol="0" anchor="ctr"/>
          <a:lstStyle/>
          <a:p>
            <a:pPr indent="0" marL="0">
              <a:buNone/>
            </a:pPr>
            <a:r>
              <a:rPr lang="en-US" sz="3000" b="1" dirty="0">
                <a:solidFill>
                  <a:srgbClr val="3BC4A8"/>
                </a:solidFill>
                <a:latin typeface="Cambria" pitchFamily="34" charset="0"/>
                <a:ea typeface="Cambria" pitchFamily="34" charset="-122"/>
                <a:cs typeface="Cambria" pitchFamily="34" charset="-120"/>
              </a:rPr>
              <a:t>990</a:t>
            </a:r>
            <a:endParaRPr lang="en-US" sz="3000" dirty="0"/>
          </a:p>
        </p:txBody>
      </p:sp>
      <p:sp>
        <p:nvSpPr>
          <p:cNvPr id="35" name="Text 33"/>
          <p:cNvSpPr/>
          <p:nvPr/>
        </p:nvSpPr>
        <p:spPr>
          <a:xfrm>
            <a:off x="932688" y="5458968"/>
            <a:ext cx="3291840" cy="365760"/>
          </a:xfrm>
          <a:prstGeom prst="rect">
            <a:avLst/>
          </a:prstGeom>
          <a:noFill/>
          <a:ln/>
        </p:spPr>
        <p:txBody>
          <a:bodyPr wrap="square" lIns="0" tIns="0" rIns="0" bIns="0" rtlCol="0" anchor="ctr"/>
          <a:lstStyle/>
          <a:p>
            <a:pPr indent="0" marL="0">
              <a:buNone/>
            </a:pPr>
            <a:r>
              <a:rPr lang="en-US" sz="1200" dirty="0">
                <a:solidFill>
                  <a:srgbClr val="9FBCC0"/>
                </a:solidFill>
                <a:latin typeface="Calibri" pitchFamily="34" charset="0"/>
                <a:ea typeface="Calibri" pitchFamily="34" charset="-122"/>
                <a:cs typeface="Calibri" pitchFamily="34" charset="-120"/>
              </a:rPr>
              <a:t>pipeline runs in the full sweep</a:t>
            </a:r>
            <a:endParaRPr lang="en-US" sz="1200" dirty="0"/>
          </a:p>
        </p:txBody>
      </p:sp>
      <p:sp>
        <p:nvSpPr>
          <p:cNvPr id="36" name="Text 34"/>
          <p:cNvSpPr/>
          <p:nvPr/>
        </p:nvSpPr>
        <p:spPr>
          <a:xfrm>
            <a:off x="4498848" y="4901184"/>
            <a:ext cx="3291840" cy="548640"/>
          </a:xfrm>
          <a:prstGeom prst="rect">
            <a:avLst/>
          </a:prstGeom>
          <a:noFill/>
          <a:ln/>
        </p:spPr>
        <p:txBody>
          <a:bodyPr wrap="square" lIns="0" tIns="0" rIns="0" bIns="0" rtlCol="0" anchor="ctr"/>
          <a:lstStyle/>
          <a:p>
            <a:pPr indent="0" marL="0">
              <a:buNone/>
            </a:pPr>
            <a:r>
              <a:rPr lang="en-US" sz="3000" b="1" dirty="0">
                <a:solidFill>
                  <a:srgbClr val="3BC4A8"/>
                </a:solidFill>
                <a:latin typeface="Cambria" pitchFamily="34" charset="0"/>
                <a:ea typeface="Cambria" pitchFamily="34" charset="-122"/>
                <a:cs typeface="Cambria" pitchFamily="34" charset="-120"/>
              </a:rPr>
              <a:t>~2.25 h</a:t>
            </a:r>
            <a:endParaRPr lang="en-US" sz="3000" dirty="0"/>
          </a:p>
        </p:txBody>
      </p:sp>
      <p:sp>
        <p:nvSpPr>
          <p:cNvPr id="37" name="Text 35"/>
          <p:cNvSpPr/>
          <p:nvPr/>
        </p:nvSpPr>
        <p:spPr>
          <a:xfrm>
            <a:off x="4498848" y="5458968"/>
            <a:ext cx="3291840" cy="365760"/>
          </a:xfrm>
          <a:prstGeom prst="rect">
            <a:avLst/>
          </a:prstGeom>
          <a:noFill/>
          <a:ln/>
        </p:spPr>
        <p:txBody>
          <a:bodyPr wrap="square" lIns="0" tIns="0" rIns="0" bIns="0" rtlCol="0" anchor="ctr"/>
          <a:lstStyle/>
          <a:p>
            <a:pPr indent="0" marL="0">
              <a:buNone/>
            </a:pPr>
            <a:r>
              <a:rPr lang="en-US" sz="1200" dirty="0">
                <a:solidFill>
                  <a:srgbClr val="9FBCC0"/>
                </a:solidFill>
                <a:latin typeface="Calibri" pitchFamily="34" charset="0"/>
                <a:ea typeface="Calibri" pitchFamily="34" charset="-122"/>
                <a:cs typeface="Calibri" pitchFamily="34" charset="-120"/>
              </a:rPr>
              <a:t>measured compute at 8 cores</a:t>
            </a:r>
            <a:endParaRPr lang="en-US" sz="1200" dirty="0"/>
          </a:p>
        </p:txBody>
      </p:sp>
      <p:sp>
        <p:nvSpPr>
          <p:cNvPr id="38" name="Text 36"/>
          <p:cNvSpPr/>
          <p:nvPr/>
        </p:nvSpPr>
        <p:spPr>
          <a:xfrm>
            <a:off x="8065008" y="4901184"/>
            <a:ext cx="3291840" cy="548640"/>
          </a:xfrm>
          <a:prstGeom prst="rect">
            <a:avLst/>
          </a:prstGeom>
          <a:noFill/>
          <a:ln/>
        </p:spPr>
        <p:txBody>
          <a:bodyPr wrap="square" lIns="0" tIns="0" rIns="0" bIns="0" rtlCol="0" anchor="ctr"/>
          <a:lstStyle/>
          <a:p>
            <a:pPr indent="0" marL="0">
              <a:buNone/>
            </a:pPr>
            <a:r>
              <a:rPr lang="en-US" sz="3000" b="1" dirty="0">
                <a:solidFill>
                  <a:srgbClr val="3BC4A8"/>
                </a:solidFill>
                <a:latin typeface="Cambria" pitchFamily="34" charset="0"/>
                <a:ea typeface="Cambria" pitchFamily="34" charset="-122"/>
                <a:cs typeface="Cambria" pitchFamily="34" charset="-120"/>
              </a:rPr>
              <a:t>~80 GB</a:t>
            </a:r>
            <a:endParaRPr lang="en-US" sz="3000" dirty="0"/>
          </a:p>
        </p:txBody>
      </p:sp>
      <p:sp>
        <p:nvSpPr>
          <p:cNvPr id="39" name="Text 37"/>
          <p:cNvSpPr/>
          <p:nvPr/>
        </p:nvSpPr>
        <p:spPr>
          <a:xfrm>
            <a:off x="8065008" y="5458968"/>
            <a:ext cx="3291840" cy="365760"/>
          </a:xfrm>
          <a:prstGeom prst="rect">
            <a:avLst/>
          </a:prstGeom>
          <a:noFill/>
          <a:ln/>
        </p:spPr>
        <p:txBody>
          <a:bodyPr wrap="square" lIns="0" tIns="0" rIns="0" bIns="0" rtlCol="0" anchor="ctr"/>
          <a:lstStyle/>
          <a:p>
            <a:pPr indent="0" marL="0">
              <a:buNone/>
            </a:pPr>
            <a:r>
              <a:rPr lang="en-US" sz="1200" dirty="0">
                <a:solidFill>
                  <a:srgbClr val="9FBCC0"/>
                </a:solidFill>
                <a:latin typeface="Calibri" pitchFamily="34" charset="0"/>
                <a:ea typeface="Calibri" pitchFamily="34" charset="-122"/>
                <a:cs typeface="Calibri" pitchFamily="34" charset="-120"/>
              </a:rPr>
              <a:t>disk — the real constraint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RESULTS · ALIGNMENT</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The aligners are effectively tied</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2194560"/>
                <a:gridCol w="1554480"/>
                <a:gridCol w="2377440"/>
                <a:gridCol w="1737360"/>
                <a:gridCol w="1554480"/>
                <a:gridCol w="1636776"/>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Aligner</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Mapping</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Placement ±10 bp</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 MAPQ</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Runtime</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Peak RAM</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E7C86"/>
                    </a:solidFill>
                  </a:tcPr>
                </a:tc>
              </a:tr>
              <a:tr h="384048">
                <a:tc>
                  <a:txBody>
                    <a:bodyPr/>
                    <a:lstStyle/>
                    <a:p>
                      <a:pPr algn="l" indent="0" marL="0">
                        <a:buNone/>
                      </a:pPr>
                      <a:r>
                        <a:rPr lang="en-US" sz="1300" b="1" dirty="0">
                          <a:solidFill>
                            <a:srgbClr val="0B2E36"/>
                          </a:solidFill>
                          <a:latin typeface="Calibri" pitchFamily="34" charset="0"/>
                          <a:ea typeface="Calibri" pitchFamily="34" charset="-122"/>
                          <a:cs typeface="Calibri" pitchFamily="34" charset="-120"/>
                        </a:rPr>
                        <a:t>BWA-MEM</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99.03%</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59.1</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5.2 s</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382 MB</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0B2E36"/>
                          </a:solidFill>
                          <a:latin typeface="Calibri" pitchFamily="34" charset="0"/>
                          <a:ea typeface="Calibri" pitchFamily="34" charset="-122"/>
                          <a:cs typeface="Calibri" pitchFamily="34" charset="-120"/>
                        </a:rPr>
                        <a:t>Bowtie2</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99.98%</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99.01%</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41.2</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17.6 s</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67 MB</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r>
              <a:tr h="384048">
                <a:tc>
                  <a:txBody>
                    <a:bodyPr/>
                    <a:lstStyle/>
                    <a:p>
                      <a:pPr algn="l" indent="0" marL="0">
                        <a:buNone/>
                      </a:pPr>
                      <a:r>
                        <a:rPr lang="en-US" sz="1300" b="1" dirty="0">
                          <a:solidFill>
                            <a:srgbClr val="0B2E36"/>
                          </a:solidFill>
                          <a:latin typeface="Calibri" pitchFamily="34" charset="0"/>
                          <a:ea typeface="Calibri" pitchFamily="34" charset="-122"/>
                          <a:cs typeface="Calibri" pitchFamily="34" charset="-120"/>
                        </a:rPr>
                        <a:t>minimap2</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99.02%</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59.1</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1.9 s</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491 MB</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401568"/>
            <a:ext cx="3429000" cy="1874520"/>
          </a:xfrm>
          <a:prstGeom prst="roundRect">
            <a:avLst>
              <a:gd name="adj" fmla="val 3902"/>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6" name="Shape 3"/>
          <p:cNvSpPr/>
          <p:nvPr/>
        </p:nvSpPr>
        <p:spPr>
          <a:xfrm>
            <a:off x="822960" y="3639312"/>
            <a:ext cx="310896" cy="310896"/>
          </a:xfrm>
          <a:prstGeom prst="ellipse">
            <a:avLst/>
          </a:prstGeom>
          <a:solidFill>
            <a:srgbClr val="0E7C86"/>
          </a:solidFill>
          <a:ln w="12700">
            <a:solidFill>
              <a:srgbClr val="0E7C86"/>
            </a:solidFill>
            <a:prstDash val="solid"/>
          </a:ln>
        </p:spPr>
      </p:sp>
      <p:sp>
        <p:nvSpPr>
          <p:cNvPr id="7" name="Text 4"/>
          <p:cNvSpPr/>
          <p:nvPr/>
        </p:nvSpPr>
        <p:spPr>
          <a:xfrm>
            <a:off x="1252728" y="3621024"/>
            <a:ext cx="2651760" cy="347472"/>
          </a:xfrm>
          <a:prstGeom prst="rect">
            <a:avLst/>
          </a:prstGeom>
          <a:noFill/>
          <a:ln/>
        </p:spPr>
        <p:txBody>
          <a:bodyPr wrap="square" lIns="0" tIns="0" rIns="0" bIns="0" rtlCol="0" anchor="ctr"/>
          <a:lstStyle/>
          <a:p>
            <a:pPr indent="0" marL="0">
              <a:buNone/>
            </a:pPr>
            <a:r>
              <a:rPr lang="en-US" sz="1350" b="1" dirty="0">
                <a:solidFill>
                  <a:srgbClr val="0B2E36"/>
                </a:solidFill>
                <a:latin typeface="Calibri" pitchFamily="34" charset="0"/>
                <a:ea typeface="Calibri" pitchFamily="34" charset="-122"/>
                <a:cs typeface="Calibri" pitchFamily="34" charset="-120"/>
              </a:rPr>
              <a:t>A pure aligner metric</a:t>
            </a:r>
            <a:endParaRPr lang="en-US" sz="1350" dirty="0"/>
          </a:p>
        </p:txBody>
      </p:sp>
      <p:sp>
        <p:nvSpPr>
          <p:cNvPr id="8" name="Text 5"/>
          <p:cNvSpPr/>
          <p:nvPr/>
        </p:nvSpPr>
        <p:spPr>
          <a:xfrm>
            <a:off x="822960" y="4078224"/>
            <a:ext cx="2926080" cy="1097280"/>
          </a:xfrm>
          <a:prstGeom prst="rect">
            <a:avLst/>
          </a:prstGeom>
          <a:noFill/>
          <a:ln/>
        </p:spPr>
        <p:txBody>
          <a:bodyPr wrap="square" lIns="0" tIns="0" rIns="0" bIns="0" rtlCol="0" anchor="ctr"/>
          <a:lstStyle/>
          <a:p>
            <a:pPr indent="0" marL="0">
              <a:lnSpc>
                <a:spcPts val="1400"/>
              </a:lnSpc>
              <a:buNone/>
            </a:pPr>
            <a:r>
              <a:rPr lang="en-US" sz="1150" dirty="0">
                <a:solidFill>
                  <a:srgbClr val="5C7278"/>
                </a:solidFill>
                <a:latin typeface="Calibri" pitchFamily="34" charset="0"/>
                <a:ea typeface="Calibri" pitchFamily="34" charset="-122"/>
                <a:cs typeface="Calibri" pitchFamily="34" charset="-120"/>
              </a:rPr>
              <a:t>The simulator records where every read really came from, so placement accuracy is measurable with no caller involved.</a:t>
            </a:r>
            <a:endParaRPr lang="en-US" sz="1150" dirty="0"/>
          </a:p>
        </p:txBody>
      </p:sp>
      <p:sp>
        <p:nvSpPr>
          <p:cNvPr id="9" name="Shape 6"/>
          <p:cNvSpPr/>
          <p:nvPr/>
        </p:nvSpPr>
        <p:spPr>
          <a:xfrm>
            <a:off x="4251960" y="3401568"/>
            <a:ext cx="3429000" cy="1874520"/>
          </a:xfrm>
          <a:prstGeom prst="roundRect">
            <a:avLst>
              <a:gd name="adj" fmla="val 3902"/>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0" name="Shape 7"/>
          <p:cNvSpPr/>
          <p:nvPr/>
        </p:nvSpPr>
        <p:spPr>
          <a:xfrm>
            <a:off x="4507992" y="3639312"/>
            <a:ext cx="310896" cy="310896"/>
          </a:xfrm>
          <a:prstGeom prst="ellipse">
            <a:avLst/>
          </a:prstGeom>
          <a:solidFill>
            <a:srgbClr val="3BC4A8"/>
          </a:solidFill>
          <a:ln w="12700">
            <a:solidFill>
              <a:srgbClr val="3BC4A8"/>
            </a:solidFill>
            <a:prstDash val="solid"/>
          </a:ln>
        </p:spPr>
      </p:sp>
      <p:sp>
        <p:nvSpPr>
          <p:cNvPr id="11" name="Text 8"/>
          <p:cNvSpPr/>
          <p:nvPr/>
        </p:nvSpPr>
        <p:spPr>
          <a:xfrm>
            <a:off x="4937760" y="3621024"/>
            <a:ext cx="2651760" cy="347472"/>
          </a:xfrm>
          <a:prstGeom prst="rect">
            <a:avLst/>
          </a:prstGeom>
          <a:noFill/>
          <a:ln/>
        </p:spPr>
        <p:txBody>
          <a:bodyPr wrap="square" lIns="0" tIns="0" rIns="0" bIns="0" rtlCol="0" anchor="ctr"/>
          <a:lstStyle/>
          <a:p>
            <a:pPr indent="0" marL="0">
              <a:buNone/>
            </a:pPr>
            <a:r>
              <a:rPr lang="en-US" sz="1350" b="1" dirty="0">
                <a:solidFill>
                  <a:srgbClr val="0B2E36"/>
                </a:solidFill>
                <a:latin typeface="Calibri" pitchFamily="34" charset="0"/>
                <a:ea typeface="Calibri" pitchFamily="34" charset="-122"/>
                <a:cs typeface="Calibri" pitchFamily="34" charset="-120"/>
              </a:rPr>
              <a:t>All three tie at ~99%</a:t>
            </a:r>
            <a:endParaRPr lang="en-US" sz="1350" dirty="0"/>
          </a:p>
        </p:txBody>
      </p:sp>
      <p:sp>
        <p:nvSpPr>
          <p:cNvPr id="12" name="Text 9"/>
          <p:cNvSpPr/>
          <p:nvPr/>
        </p:nvSpPr>
        <p:spPr>
          <a:xfrm>
            <a:off x="4507992" y="4078224"/>
            <a:ext cx="2926080" cy="1097280"/>
          </a:xfrm>
          <a:prstGeom prst="rect">
            <a:avLst/>
          </a:prstGeom>
          <a:noFill/>
          <a:ln/>
        </p:spPr>
        <p:txBody>
          <a:bodyPr wrap="square" lIns="0" tIns="0" rIns="0" bIns="0" rtlCol="0" anchor="ctr"/>
          <a:lstStyle/>
          <a:p>
            <a:pPr indent="0" marL="0">
              <a:lnSpc>
                <a:spcPts val="1400"/>
              </a:lnSpc>
              <a:buNone/>
            </a:pPr>
            <a:r>
              <a:rPr lang="en-US" sz="1150" dirty="0">
                <a:solidFill>
                  <a:srgbClr val="5C7278"/>
                </a:solidFill>
                <a:latin typeface="Calibri" pitchFamily="34" charset="0"/>
                <a:ea typeface="Calibri" pitchFamily="34" charset="-122"/>
                <a:cs typeface="Calibri" pitchFamily="34" charset="-120"/>
              </a:rPr>
              <a:t>The missing 1% is repetitive sequence where 150 bp cannot resolve the location. Same information limit for all.</a:t>
            </a:r>
            <a:endParaRPr lang="en-US" sz="1150" dirty="0"/>
          </a:p>
        </p:txBody>
      </p:sp>
      <p:sp>
        <p:nvSpPr>
          <p:cNvPr id="13" name="Shape 10"/>
          <p:cNvSpPr/>
          <p:nvPr/>
        </p:nvSpPr>
        <p:spPr>
          <a:xfrm>
            <a:off x="7936992" y="3401568"/>
            <a:ext cx="3429000" cy="1874520"/>
          </a:xfrm>
          <a:prstGeom prst="roundRect">
            <a:avLst>
              <a:gd name="adj" fmla="val 3902"/>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4" name="Shape 11"/>
          <p:cNvSpPr/>
          <p:nvPr/>
        </p:nvSpPr>
        <p:spPr>
          <a:xfrm>
            <a:off x="8193024" y="3639312"/>
            <a:ext cx="310896" cy="310896"/>
          </a:xfrm>
          <a:prstGeom prst="ellipse">
            <a:avLst/>
          </a:prstGeom>
          <a:solidFill>
            <a:srgbClr val="E8A33D"/>
          </a:solidFill>
          <a:ln w="12700">
            <a:solidFill>
              <a:srgbClr val="E8A33D"/>
            </a:solidFill>
            <a:prstDash val="solid"/>
          </a:ln>
        </p:spPr>
      </p:sp>
      <p:sp>
        <p:nvSpPr>
          <p:cNvPr id="15" name="Text 12"/>
          <p:cNvSpPr/>
          <p:nvPr/>
        </p:nvSpPr>
        <p:spPr>
          <a:xfrm>
            <a:off x="8622792" y="3621024"/>
            <a:ext cx="2651760" cy="347472"/>
          </a:xfrm>
          <a:prstGeom prst="rect">
            <a:avLst/>
          </a:prstGeom>
          <a:noFill/>
          <a:ln/>
        </p:spPr>
        <p:txBody>
          <a:bodyPr wrap="square" lIns="0" tIns="0" rIns="0" bIns="0" rtlCol="0" anchor="ctr"/>
          <a:lstStyle/>
          <a:p>
            <a:pPr indent="0" marL="0">
              <a:buNone/>
            </a:pPr>
            <a:r>
              <a:rPr lang="en-US" sz="1350" b="1" dirty="0">
                <a:solidFill>
                  <a:srgbClr val="0B2E36"/>
                </a:solidFill>
                <a:latin typeface="Calibri" pitchFamily="34" charset="0"/>
                <a:ea typeface="Calibri" pitchFamily="34" charset="-122"/>
                <a:cs typeface="Calibri" pitchFamily="34" charset="-120"/>
              </a:rPr>
              <a:t>Speed and memory invert</a:t>
            </a:r>
            <a:endParaRPr lang="en-US" sz="1350" dirty="0"/>
          </a:p>
        </p:txBody>
      </p:sp>
      <p:sp>
        <p:nvSpPr>
          <p:cNvPr id="16" name="Text 13"/>
          <p:cNvSpPr/>
          <p:nvPr/>
        </p:nvSpPr>
        <p:spPr>
          <a:xfrm>
            <a:off x="8193024" y="4078224"/>
            <a:ext cx="2926080" cy="1097280"/>
          </a:xfrm>
          <a:prstGeom prst="rect">
            <a:avLst/>
          </a:prstGeom>
          <a:noFill/>
          <a:ln/>
        </p:spPr>
        <p:txBody>
          <a:bodyPr wrap="square" lIns="0" tIns="0" rIns="0" bIns="0" rtlCol="0" anchor="ctr"/>
          <a:lstStyle/>
          <a:p>
            <a:pPr indent="0" marL="0">
              <a:lnSpc>
                <a:spcPts val="1400"/>
              </a:lnSpc>
              <a:buNone/>
            </a:pPr>
            <a:r>
              <a:rPr lang="en-US" sz="1150" dirty="0">
                <a:solidFill>
                  <a:srgbClr val="5C7278"/>
                </a:solidFill>
                <a:latin typeface="Calibri" pitchFamily="34" charset="0"/>
                <a:ea typeface="Calibri" pitchFamily="34" charset="-122"/>
                <a:cs typeface="Calibri" pitchFamily="34" charset="-120"/>
              </a:rPr>
              <a:t>minimap2 is ~9× faster than Bowtie2 but uses ~7× the memory. A trade-off, not a defect.</a:t>
            </a:r>
            <a:endParaRPr lang="en-US" sz="1150" dirty="0"/>
          </a:p>
        </p:txBody>
      </p:sp>
      <p:sp>
        <p:nvSpPr>
          <p:cNvPr id="17" name="Text 14"/>
          <p:cNvSpPr/>
          <p:nvPr/>
        </p:nvSpPr>
        <p:spPr>
          <a:xfrm>
            <a:off x="566928" y="5486400"/>
            <a:ext cx="11055096" cy="320040"/>
          </a:xfrm>
          <a:prstGeom prst="rect">
            <a:avLst/>
          </a:prstGeom>
          <a:noFill/>
          <a:ln/>
        </p:spPr>
        <p:txBody>
          <a:bodyPr wrap="square" lIns="0" tIns="0" rIns="0" bIns="0" rtlCol="0" anchor="ctr"/>
          <a:lstStyle/>
          <a:p>
            <a:pPr indent="0" marL="0">
              <a:buNone/>
            </a:pPr>
            <a:r>
              <a:rPr lang="en-US" sz="1150" i="1" dirty="0">
                <a:solidFill>
                  <a:srgbClr val="5C7278"/>
                </a:solidFill>
                <a:latin typeface="Calibri" pitchFamily="34" charset="0"/>
                <a:ea typeface="Calibri" pitchFamily="34" charset="-122"/>
                <a:cs typeface="Calibri" pitchFamily="34" charset="-120"/>
              </a:rPr>
              <a:t>Mean MAPQ is not comparable across tools — BWA caps at 60, Bowtie2 at 42. That difference matters later.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RESULTS · F1</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Nine pipelines, scored</a:t>
            </a:r>
            <a:endParaRPr lang="en-US" sz="3400" dirty="0"/>
          </a:p>
        </p:txBody>
      </p:sp>
      <p:sp>
        <p:nvSpPr>
          <p:cNvPr id="4" name="Text 2"/>
          <p:cNvSpPr/>
          <p:nvPr/>
        </p:nvSpPr>
        <p:spPr>
          <a:xfrm>
            <a:off x="1618488" y="1572768"/>
            <a:ext cx="4206240" cy="320040"/>
          </a:xfrm>
          <a:prstGeom prst="rect">
            <a:avLst/>
          </a:prstGeom>
          <a:noFill/>
          <a:ln/>
        </p:spPr>
        <p:txBody>
          <a:bodyPr wrap="square" lIns="0" tIns="0" rIns="0" bIns="0" rtlCol="0" anchor="ctr"/>
          <a:lstStyle/>
          <a:p>
            <a:pPr algn="ctr" indent="0" marL="0">
              <a:buNone/>
            </a:pPr>
            <a:r>
              <a:rPr lang="en-US" sz="1500" b="1" dirty="0">
                <a:solidFill>
                  <a:srgbClr val="0B2E36"/>
                </a:solidFill>
                <a:latin typeface="Calibri" pitchFamily="34" charset="0"/>
                <a:ea typeface="Calibri" pitchFamily="34" charset="-122"/>
                <a:cs typeface="Calibri" pitchFamily="34" charset="-120"/>
              </a:rPr>
              <a:t>SNV — F1</a:t>
            </a:r>
            <a:endParaRPr lang="en-US" sz="1500" dirty="0"/>
          </a:p>
        </p:txBody>
      </p:sp>
      <p:sp>
        <p:nvSpPr>
          <p:cNvPr id="5" name="Text 3"/>
          <p:cNvSpPr/>
          <p:nvPr/>
        </p:nvSpPr>
        <p:spPr>
          <a:xfrm>
            <a:off x="161848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GATK</a:t>
            </a:r>
            <a:endParaRPr lang="en-US" sz="1200" dirty="0"/>
          </a:p>
        </p:txBody>
      </p:sp>
      <p:sp>
        <p:nvSpPr>
          <p:cNvPr id="6" name="Text 4"/>
          <p:cNvSpPr/>
          <p:nvPr/>
        </p:nvSpPr>
        <p:spPr>
          <a:xfrm>
            <a:off x="303580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FreeBayes</a:t>
            </a:r>
            <a:endParaRPr lang="en-US" sz="1200" dirty="0"/>
          </a:p>
        </p:txBody>
      </p:sp>
      <p:sp>
        <p:nvSpPr>
          <p:cNvPr id="7" name="Text 5"/>
          <p:cNvSpPr/>
          <p:nvPr/>
        </p:nvSpPr>
        <p:spPr>
          <a:xfrm>
            <a:off x="445312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BCFtools</a:t>
            </a:r>
            <a:endParaRPr lang="en-US" sz="1200" dirty="0"/>
          </a:p>
        </p:txBody>
      </p:sp>
      <p:sp>
        <p:nvSpPr>
          <p:cNvPr id="8" name="Text 6"/>
          <p:cNvSpPr/>
          <p:nvPr/>
        </p:nvSpPr>
        <p:spPr>
          <a:xfrm>
            <a:off x="566928" y="2267712"/>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BWA-MEM</a:t>
            </a:r>
            <a:endParaRPr lang="en-US" sz="1200" dirty="0"/>
          </a:p>
        </p:txBody>
      </p:sp>
      <p:sp>
        <p:nvSpPr>
          <p:cNvPr id="9" name="Shape 7"/>
          <p:cNvSpPr/>
          <p:nvPr/>
        </p:nvSpPr>
        <p:spPr>
          <a:xfrm>
            <a:off x="1659636" y="2308860"/>
            <a:ext cx="1335024" cy="704088"/>
          </a:xfrm>
          <a:prstGeom prst="roundRect">
            <a:avLst>
              <a:gd name="adj" fmla="val 7792"/>
            </a:avLst>
          </a:prstGeom>
          <a:solidFill>
            <a:srgbClr val="3BC4A8"/>
          </a:solidFill>
          <a:ln w="12700">
            <a:solidFill>
              <a:srgbClr val="3BC4A8"/>
            </a:solidFill>
            <a:prstDash val="solid"/>
          </a:ln>
        </p:spPr>
      </p:sp>
      <p:sp>
        <p:nvSpPr>
          <p:cNvPr id="10" name="Text 8"/>
          <p:cNvSpPr/>
          <p:nvPr/>
        </p:nvSpPr>
        <p:spPr>
          <a:xfrm>
            <a:off x="165963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0.9953</a:t>
            </a:r>
            <a:endParaRPr lang="en-US" sz="1400" dirty="0"/>
          </a:p>
        </p:txBody>
      </p:sp>
      <p:sp>
        <p:nvSpPr>
          <p:cNvPr id="11" name="Shape 9"/>
          <p:cNvSpPr/>
          <p:nvPr/>
        </p:nvSpPr>
        <p:spPr>
          <a:xfrm>
            <a:off x="3076956" y="2308860"/>
            <a:ext cx="1335024" cy="704088"/>
          </a:xfrm>
          <a:prstGeom prst="roundRect">
            <a:avLst>
              <a:gd name="adj" fmla="val 7792"/>
            </a:avLst>
          </a:prstGeom>
          <a:solidFill>
            <a:srgbClr val="3BC4A8"/>
          </a:solidFill>
          <a:ln w="12700">
            <a:solidFill>
              <a:srgbClr val="3BC4A8"/>
            </a:solidFill>
            <a:prstDash val="solid"/>
          </a:ln>
        </p:spPr>
      </p:sp>
      <p:sp>
        <p:nvSpPr>
          <p:cNvPr id="12" name="Text 10"/>
          <p:cNvSpPr/>
          <p:nvPr/>
        </p:nvSpPr>
        <p:spPr>
          <a:xfrm>
            <a:off x="307695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0.9953</a:t>
            </a:r>
            <a:endParaRPr lang="en-US" sz="1400" dirty="0"/>
          </a:p>
        </p:txBody>
      </p:sp>
      <p:sp>
        <p:nvSpPr>
          <p:cNvPr id="13" name="Shape 11"/>
          <p:cNvSpPr/>
          <p:nvPr/>
        </p:nvSpPr>
        <p:spPr>
          <a:xfrm>
            <a:off x="4494276" y="2308860"/>
            <a:ext cx="1335024" cy="704088"/>
          </a:xfrm>
          <a:prstGeom prst="roundRect">
            <a:avLst>
              <a:gd name="adj" fmla="val 7792"/>
            </a:avLst>
          </a:prstGeom>
          <a:solidFill>
            <a:srgbClr val="3BC4A8"/>
          </a:solidFill>
          <a:ln w="12700">
            <a:solidFill>
              <a:srgbClr val="3BC4A8"/>
            </a:solidFill>
            <a:prstDash val="solid"/>
          </a:ln>
        </p:spPr>
      </p:sp>
      <p:sp>
        <p:nvSpPr>
          <p:cNvPr id="14" name="Text 12"/>
          <p:cNvSpPr/>
          <p:nvPr/>
        </p:nvSpPr>
        <p:spPr>
          <a:xfrm>
            <a:off x="449427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0.9948</a:t>
            </a:r>
            <a:endParaRPr lang="en-US" sz="1400" dirty="0"/>
          </a:p>
        </p:txBody>
      </p:sp>
      <p:sp>
        <p:nvSpPr>
          <p:cNvPr id="15" name="Text 13"/>
          <p:cNvSpPr/>
          <p:nvPr/>
        </p:nvSpPr>
        <p:spPr>
          <a:xfrm>
            <a:off x="566928" y="3054096"/>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Bowtie2</a:t>
            </a:r>
            <a:endParaRPr lang="en-US" sz="1200" dirty="0"/>
          </a:p>
        </p:txBody>
      </p:sp>
      <p:sp>
        <p:nvSpPr>
          <p:cNvPr id="16" name="Shape 14"/>
          <p:cNvSpPr/>
          <p:nvPr/>
        </p:nvSpPr>
        <p:spPr>
          <a:xfrm>
            <a:off x="1659636" y="3095244"/>
            <a:ext cx="1335024" cy="704088"/>
          </a:xfrm>
          <a:prstGeom prst="roundRect">
            <a:avLst>
              <a:gd name="adj" fmla="val 7792"/>
            </a:avLst>
          </a:prstGeom>
          <a:solidFill>
            <a:srgbClr val="E06C4F"/>
          </a:solidFill>
          <a:ln w="12700">
            <a:solidFill>
              <a:srgbClr val="E06C4F"/>
            </a:solidFill>
            <a:prstDash val="solid"/>
          </a:ln>
        </p:spPr>
      </p:sp>
      <p:sp>
        <p:nvSpPr>
          <p:cNvPr id="17" name="Text 15"/>
          <p:cNvSpPr/>
          <p:nvPr/>
        </p:nvSpPr>
        <p:spPr>
          <a:xfrm>
            <a:off x="1659636" y="3095244"/>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0.9909</a:t>
            </a:r>
            <a:endParaRPr lang="en-US" sz="1400" dirty="0"/>
          </a:p>
        </p:txBody>
      </p:sp>
      <p:sp>
        <p:nvSpPr>
          <p:cNvPr id="18" name="Shape 16"/>
          <p:cNvSpPr/>
          <p:nvPr/>
        </p:nvSpPr>
        <p:spPr>
          <a:xfrm>
            <a:off x="3076956" y="3095244"/>
            <a:ext cx="1335024" cy="704088"/>
          </a:xfrm>
          <a:prstGeom prst="roundRect">
            <a:avLst>
              <a:gd name="adj" fmla="val 7792"/>
            </a:avLst>
          </a:prstGeom>
          <a:solidFill>
            <a:srgbClr val="E06C4F"/>
          </a:solidFill>
          <a:ln w="12700">
            <a:solidFill>
              <a:srgbClr val="E06C4F"/>
            </a:solidFill>
            <a:prstDash val="solid"/>
          </a:ln>
        </p:spPr>
      </p:sp>
      <p:sp>
        <p:nvSpPr>
          <p:cNvPr id="19" name="Text 17"/>
          <p:cNvSpPr/>
          <p:nvPr/>
        </p:nvSpPr>
        <p:spPr>
          <a:xfrm>
            <a:off x="3076956" y="3095244"/>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0.9906</a:t>
            </a:r>
            <a:endParaRPr lang="en-US" sz="1400" dirty="0"/>
          </a:p>
        </p:txBody>
      </p:sp>
      <p:sp>
        <p:nvSpPr>
          <p:cNvPr id="20" name="Shape 18"/>
          <p:cNvSpPr/>
          <p:nvPr/>
        </p:nvSpPr>
        <p:spPr>
          <a:xfrm>
            <a:off x="4494276" y="3095244"/>
            <a:ext cx="1335024" cy="704088"/>
          </a:xfrm>
          <a:prstGeom prst="roundRect">
            <a:avLst>
              <a:gd name="adj" fmla="val 7792"/>
            </a:avLst>
          </a:prstGeom>
          <a:solidFill>
            <a:srgbClr val="E06C4F"/>
          </a:solidFill>
          <a:ln w="12700">
            <a:solidFill>
              <a:srgbClr val="E06C4F"/>
            </a:solidFill>
            <a:prstDash val="solid"/>
          </a:ln>
        </p:spPr>
      </p:sp>
      <p:sp>
        <p:nvSpPr>
          <p:cNvPr id="21" name="Text 19"/>
          <p:cNvSpPr/>
          <p:nvPr/>
        </p:nvSpPr>
        <p:spPr>
          <a:xfrm>
            <a:off x="4494276" y="3095244"/>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0.9914</a:t>
            </a:r>
            <a:endParaRPr lang="en-US" sz="1400" dirty="0"/>
          </a:p>
        </p:txBody>
      </p:sp>
      <p:sp>
        <p:nvSpPr>
          <p:cNvPr id="22" name="Text 20"/>
          <p:cNvSpPr/>
          <p:nvPr/>
        </p:nvSpPr>
        <p:spPr>
          <a:xfrm>
            <a:off x="566928" y="3840480"/>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minimap2</a:t>
            </a:r>
            <a:endParaRPr lang="en-US" sz="1200" dirty="0"/>
          </a:p>
        </p:txBody>
      </p:sp>
      <p:sp>
        <p:nvSpPr>
          <p:cNvPr id="23" name="Shape 21"/>
          <p:cNvSpPr/>
          <p:nvPr/>
        </p:nvSpPr>
        <p:spPr>
          <a:xfrm>
            <a:off x="1659636" y="3881628"/>
            <a:ext cx="1335024" cy="704088"/>
          </a:xfrm>
          <a:prstGeom prst="roundRect">
            <a:avLst>
              <a:gd name="adj" fmla="val 7792"/>
            </a:avLst>
          </a:prstGeom>
          <a:solidFill>
            <a:srgbClr val="3BC4A8"/>
          </a:solidFill>
          <a:ln w="12700">
            <a:solidFill>
              <a:srgbClr val="3BC4A8"/>
            </a:solidFill>
            <a:prstDash val="solid"/>
          </a:ln>
        </p:spPr>
      </p:sp>
      <p:sp>
        <p:nvSpPr>
          <p:cNvPr id="24" name="Text 22"/>
          <p:cNvSpPr/>
          <p:nvPr/>
        </p:nvSpPr>
        <p:spPr>
          <a:xfrm>
            <a:off x="1659636" y="3881628"/>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0.9946</a:t>
            </a:r>
            <a:endParaRPr lang="en-US" sz="1400" dirty="0"/>
          </a:p>
        </p:txBody>
      </p:sp>
      <p:sp>
        <p:nvSpPr>
          <p:cNvPr id="25" name="Shape 23"/>
          <p:cNvSpPr/>
          <p:nvPr/>
        </p:nvSpPr>
        <p:spPr>
          <a:xfrm>
            <a:off x="3076956" y="3881628"/>
            <a:ext cx="1335024" cy="704088"/>
          </a:xfrm>
          <a:prstGeom prst="roundRect">
            <a:avLst>
              <a:gd name="adj" fmla="val 7792"/>
            </a:avLst>
          </a:prstGeom>
          <a:solidFill>
            <a:srgbClr val="3BC4A8"/>
          </a:solidFill>
          <a:ln w="12700">
            <a:solidFill>
              <a:srgbClr val="3BC4A8"/>
            </a:solidFill>
            <a:prstDash val="solid"/>
          </a:ln>
        </p:spPr>
      </p:sp>
      <p:sp>
        <p:nvSpPr>
          <p:cNvPr id="26" name="Text 24"/>
          <p:cNvSpPr/>
          <p:nvPr/>
        </p:nvSpPr>
        <p:spPr>
          <a:xfrm>
            <a:off x="3076956" y="3881628"/>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0.9953</a:t>
            </a:r>
            <a:endParaRPr lang="en-US" sz="1400" dirty="0"/>
          </a:p>
        </p:txBody>
      </p:sp>
      <p:sp>
        <p:nvSpPr>
          <p:cNvPr id="27" name="Shape 25"/>
          <p:cNvSpPr/>
          <p:nvPr/>
        </p:nvSpPr>
        <p:spPr>
          <a:xfrm>
            <a:off x="4494276" y="3881628"/>
            <a:ext cx="1335024" cy="704088"/>
          </a:xfrm>
          <a:prstGeom prst="roundRect">
            <a:avLst>
              <a:gd name="adj" fmla="val 7792"/>
            </a:avLst>
          </a:prstGeom>
          <a:solidFill>
            <a:srgbClr val="8FD9C6"/>
          </a:solidFill>
          <a:ln w="12700">
            <a:solidFill>
              <a:srgbClr val="8FD9C6"/>
            </a:solidFill>
            <a:prstDash val="solid"/>
          </a:ln>
        </p:spPr>
      </p:sp>
      <p:sp>
        <p:nvSpPr>
          <p:cNvPr id="28" name="Text 26"/>
          <p:cNvSpPr/>
          <p:nvPr/>
        </p:nvSpPr>
        <p:spPr>
          <a:xfrm>
            <a:off x="4494276" y="3881628"/>
            <a:ext cx="1335024" cy="704088"/>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0.9944</a:t>
            </a:r>
            <a:endParaRPr lang="en-US" sz="1400" dirty="0"/>
          </a:p>
        </p:txBody>
      </p:sp>
      <p:sp>
        <p:nvSpPr>
          <p:cNvPr id="29" name="Text 27"/>
          <p:cNvSpPr/>
          <p:nvPr/>
        </p:nvSpPr>
        <p:spPr>
          <a:xfrm>
            <a:off x="7013448" y="1572768"/>
            <a:ext cx="4206240" cy="320040"/>
          </a:xfrm>
          <a:prstGeom prst="rect">
            <a:avLst/>
          </a:prstGeom>
          <a:noFill/>
          <a:ln/>
        </p:spPr>
        <p:txBody>
          <a:bodyPr wrap="square" lIns="0" tIns="0" rIns="0" bIns="0" rtlCol="0" anchor="ctr"/>
          <a:lstStyle/>
          <a:p>
            <a:pPr algn="ctr" indent="0" marL="0">
              <a:buNone/>
            </a:pPr>
            <a:r>
              <a:rPr lang="en-US" sz="1500" b="1" dirty="0">
                <a:solidFill>
                  <a:srgbClr val="0B2E36"/>
                </a:solidFill>
                <a:latin typeface="Calibri" pitchFamily="34" charset="0"/>
                <a:ea typeface="Calibri" pitchFamily="34" charset="-122"/>
                <a:cs typeface="Calibri" pitchFamily="34" charset="-120"/>
              </a:rPr>
              <a:t>Indel — F1</a:t>
            </a:r>
            <a:endParaRPr lang="en-US" sz="1500" dirty="0"/>
          </a:p>
        </p:txBody>
      </p:sp>
      <p:sp>
        <p:nvSpPr>
          <p:cNvPr id="30" name="Text 28"/>
          <p:cNvSpPr/>
          <p:nvPr/>
        </p:nvSpPr>
        <p:spPr>
          <a:xfrm>
            <a:off x="701344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GATK</a:t>
            </a:r>
            <a:endParaRPr lang="en-US" sz="1200" dirty="0"/>
          </a:p>
        </p:txBody>
      </p:sp>
      <p:sp>
        <p:nvSpPr>
          <p:cNvPr id="31" name="Text 29"/>
          <p:cNvSpPr/>
          <p:nvPr/>
        </p:nvSpPr>
        <p:spPr>
          <a:xfrm>
            <a:off x="843076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FreeBayes</a:t>
            </a:r>
            <a:endParaRPr lang="en-US" sz="1200" dirty="0"/>
          </a:p>
        </p:txBody>
      </p:sp>
      <p:sp>
        <p:nvSpPr>
          <p:cNvPr id="32" name="Text 30"/>
          <p:cNvSpPr/>
          <p:nvPr/>
        </p:nvSpPr>
        <p:spPr>
          <a:xfrm>
            <a:off x="9848088" y="1956816"/>
            <a:ext cx="1417320" cy="27432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BCFtools</a:t>
            </a:r>
            <a:endParaRPr lang="en-US" sz="1200" dirty="0"/>
          </a:p>
        </p:txBody>
      </p:sp>
      <p:sp>
        <p:nvSpPr>
          <p:cNvPr id="33" name="Text 31"/>
          <p:cNvSpPr/>
          <p:nvPr/>
        </p:nvSpPr>
        <p:spPr>
          <a:xfrm>
            <a:off x="5961888" y="2267712"/>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BWA-MEM</a:t>
            </a:r>
            <a:endParaRPr lang="en-US" sz="1200" dirty="0"/>
          </a:p>
        </p:txBody>
      </p:sp>
      <p:sp>
        <p:nvSpPr>
          <p:cNvPr id="34" name="Shape 32"/>
          <p:cNvSpPr/>
          <p:nvPr/>
        </p:nvSpPr>
        <p:spPr>
          <a:xfrm>
            <a:off x="7054596" y="2308860"/>
            <a:ext cx="1335024" cy="704088"/>
          </a:xfrm>
          <a:prstGeom prst="roundRect">
            <a:avLst>
              <a:gd name="adj" fmla="val 7792"/>
            </a:avLst>
          </a:prstGeom>
          <a:solidFill>
            <a:srgbClr val="3BC4A8"/>
          </a:solidFill>
          <a:ln w="12700">
            <a:solidFill>
              <a:srgbClr val="3BC4A8"/>
            </a:solidFill>
            <a:prstDash val="solid"/>
          </a:ln>
        </p:spPr>
      </p:sp>
      <p:sp>
        <p:nvSpPr>
          <p:cNvPr id="35" name="Text 33"/>
          <p:cNvSpPr/>
          <p:nvPr/>
        </p:nvSpPr>
        <p:spPr>
          <a:xfrm>
            <a:off x="705459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0.9975</a:t>
            </a:r>
            <a:endParaRPr lang="en-US" sz="1400" dirty="0"/>
          </a:p>
        </p:txBody>
      </p:sp>
      <p:sp>
        <p:nvSpPr>
          <p:cNvPr id="36" name="Shape 34"/>
          <p:cNvSpPr/>
          <p:nvPr/>
        </p:nvSpPr>
        <p:spPr>
          <a:xfrm>
            <a:off x="8471916" y="2308860"/>
            <a:ext cx="1335024" cy="704088"/>
          </a:xfrm>
          <a:prstGeom prst="roundRect">
            <a:avLst>
              <a:gd name="adj" fmla="val 7792"/>
            </a:avLst>
          </a:prstGeom>
          <a:solidFill>
            <a:srgbClr val="3BC4A8"/>
          </a:solidFill>
          <a:ln w="12700">
            <a:solidFill>
              <a:srgbClr val="3BC4A8"/>
            </a:solidFill>
            <a:prstDash val="solid"/>
          </a:ln>
        </p:spPr>
      </p:sp>
      <p:sp>
        <p:nvSpPr>
          <p:cNvPr id="37" name="Text 35"/>
          <p:cNvSpPr/>
          <p:nvPr/>
        </p:nvSpPr>
        <p:spPr>
          <a:xfrm>
            <a:off x="847191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0.9970</a:t>
            </a:r>
            <a:endParaRPr lang="en-US" sz="1400" dirty="0"/>
          </a:p>
        </p:txBody>
      </p:sp>
      <p:sp>
        <p:nvSpPr>
          <p:cNvPr id="38" name="Shape 36"/>
          <p:cNvSpPr/>
          <p:nvPr/>
        </p:nvSpPr>
        <p:spPr>
          <a:xfrm>
            <a:off x="9889236" y="2308860"/>
            <a:ext cx="1335024" cy="704088"/>
          </a:xfrm>
          <a:prstGeom prst="roundRect">
            <a:avLst>
              <a:gd name="adj" fmla="val 7792"/>
            </a:avLst>
          </a:prstGeom>
          <a:solidFill>
            <a:srgbClr val="3BC4A8"/>
          </a:solidFill>
          <a:ln w="12700">
            <a:solidFill>
              <a:srgbClr val="3BC4A8"/>
            </a:solidFill>
            <a:prstDash val="solid"/>
          </a:ln>
        </p:spPr>
      </p:sp>
      <p:sp>
        <p:nvSpPr>
          <p:cNvPr id="39" name="Text 37"/>
          <p:cNvSpPr/>
          <p:nvPr/>
        </p:nvSpPr>
        <p:spPr>
          <a:xfrm>
            <a:off x="9889236" y="2308860"/>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0.9970</a:t>
            </a:r>
            <a:endParaRPr lang="en-US" sz="1400" dirty="0"/>
          </a:p>
        </p:txBody>
      </p:sp>
      <p:sp>
        <p:nvSpPr>
          <p:cNvPr id="40" name="Text 38"/>
          <p:cNvSpPr/>
          <p:nvPr/>
        </p:nvSpPr>
        <p:spPr>
          <a:xfrm>
            <a:off x="5961888" y="3054096"/>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Bowtie2</a:t>
            </a:r>
            <a:endParaRPr lang="en-US" sz="1200" dirty="0"/>
          </a:p>
        </p:txBody>
      </p:sp>
      <p:sp>
        <p:nvSpPr>
          <p:cNvPr id="41" name="Shape 39"/>
          <p:cNvSpPr/>
          <p:nvPr/>
        </p:nvSpPr>
        <p:spPr>
          <a:xfrm>
            <a:off x="7054596" y="3095244"/>
            <a:ext cx="1335024" cy="704088"/>
          </a:xfrm>
          <a:prstGeom prst="roundRect">
            <a:avLst>
              <a:gd name="adj" fmla="val 7792"/>
            </a:avLst>
          </a:prstGeom>
          <a:solidFill>
            <a:srgbClr val="8FD9C6"/>
          </a:solidFill>
          <a:ln w="12700">
            <a:solidFill>
              <a:srgbClr val="8FD9C6"/>
            </a:solidFill>
            <a:prstDash val="solid"/>
          </a:ln>
        </p:spPr>
      </p:sp>
      <p:sp>
        <p:nvSpPr>
          <p:cNvPr id="42" name="Text 40"/>
          <p:cNvSpPr/>
          <p:nvPr/>
        </p:nvSpPr>
        <p:spPr>
          <a:xfrm>
            <a:off x="7054596" y="3095244"/>
            <a:ext cx="1335024" cy="704088"/>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0.9935</a:t>
            </a:r>
            <a:endParaRPr lang="en-US" sz="1400" dirty="0"/>
          </a:p>
        </p:txBody>
      </p:sp>
      <p:sp>
        <p:nvSpPr>
          <p:cNvPr id="43" name="Shape 41"/>
          <p:cNvSpPr/>
          <p:nvPr/>
        </p:nvSpPr>
        <p:spPr>
          <a:xfrm>
            <a:off x="8471916" y="3095244"/>
            <a:ext cx="1335024" cy="704088"/>
          </a:xfrm>
          <a:prstGeom prst="roundRect">
            <a:avLst>
              <a:gd name="adj" fmla="val 7792"/>
            </a:avLst>
          </a:prstGeom>
          <a:solidFill>
            <a:srgbClr val="F3D9A4"/>
          </a:solidFill>
          <a:ln w="12700">
            <a:solidFill>
              <a:srgbClr val="F3D9A4"/>
            </a:solidFill>
            <a:prstDash val="solid"/>
          </a:ln>
        </p:spPr>
      </p:sp>
      <p:sp>
        <p:nvSpPr>
          <p:cNvPr id="44" name="Text 42"/>
          <p:cNvSpPr/>
          <p:nvPr/>
        </p:nvSpPr>
        <p:spPr>
          <a:xfrm>
            <a:off x="8471916" y="3095244"/>
            <a:ext cx="1335024" cy="704088"/>
          </a:xfrm>
          <a:prstGeom prst="rect">
            <a:avLst/>
          </a:prstGeom>
          <a:noFill/>
          <a:ln/>
        </p:spPr>
        <p:txBody>
          <a:bodyPr wrap="square" lIns="0" tIns="0" rIns="0" bIns="0" rtlCol="0" anchor="ctr"/>
          <a:lstStyle/>
          <a:p>
            <a:pPr algn="ctr" indent="0" marL="0">
              <a:buNone/>
            </a:pPr>
            <a:r>
              <a:rPr lang="en-US" sz="1400" b="1" dirty="0">
                <a:solidFill>
                  <a:srgbClr val="0B2E36"/>
                </a:solidFill>
                <a:latin typeface="Calibri" pitchFamily="34" charset="0"/>
                <a:ea typeface="Calibri" pitchFamily="34" charset="-122"/>
                <a:cs typeface="Calibri" pitchFamily="34" charset="-120"/>
              </a:rPr>
              <a:t>0.9890</a:t>
            </a:r>
            <a:endParaRPr lang="en-US" sz="1400" dirty="0"/>
          </a:p>
        </p:txBody>
      </p:sp>
      <p:sp>
        <p:nvSpPr>
          <p:cNvPr id="45" name="Shape 43"/>
          <p:cNvSpPr/>
          <p:nvPr/>
        </p:nvSpPr>
        <p:spPr>
          <a:xfrm>
            <a:off x="9889236" y="3095244"/>
            <a:ext cx="1335024" cy="704088"/>
          </a:xfrm>
          <a:prstGeom prst="roundRect">
            <a:avLst>
              <a:gd name="adj" fmla="val 7792"/>
            </a:avLst>
          </a:prstGeom>
          <a:solidFill>
            <a:srgbClr val="E06C4F"/>
          </a:solidFill>
          <a:ln w="12700">
            <a:solidFill>
              <a:srgbClr val="E06C4F"/>
            </a:solidFill>
            <a:prstDash val="solid"/>
          </a:ln>
        </p:spPr>
      </p:sp>
      <p:sp>
        <p:nvSpPr>
          <p:cNvPr id="46" name="Text 44"/>
          <p:cNvSpPr/>
          <p:nvPr/>
        </p:nvSpPr>
        <p:spPr>
          <a:xfrm>
            <a:off x="9889236" y="3095244"/>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0.9815</a:t>
            </a:r>
            <a:endParaRPr lang="en-US" sz="1400" dirty="0"/>
          </a:p>
        </p:txBody>
      </p:sp>
      <p:sp>
        <p:nvSpPr>
          <p:cNvPr id="47" name="Text 45"/>
          <p:cNvSpPr/>
          <p:nvPr/>
        </p:nvSpPr>
        <p:spPr>
          <a:xfrm>
            <a:off x="5961888" y="3840480"/>
            <a:ext cx="960120" cy="786384"/>
          </a:xfrm>
          <a:prstGeom prst="rect">
            <a:avLst/>
          </a:prstGeom>
          <a:noFill/>
          <a:ln/>
        </p:spPr>
        <p:txBody>
          <a:bodyPr wrap="square" lIns="0" tIns="0" rIns="0" bIns="0" rtlCol="0" anchor="ctr"/>
          <a:lstStyle/>
          <a:p>
            <a:pPr algn="r" indent="0" marL="0">
              <a:buNone/>
            </a:pPr>
            <a:r>
              <a:rPr lang="en-US" sz="1200" b="1" dirty="0">
                <a:solidFill>
                  <a:srgbClr val="0E7C86"/>
                </a:solidFill>
                <a:latin typeface="Calibri" pitchFamily="34" charset="0"/>
                <a:ea typeface="Calibri" pitchFamily="34" charset="-122"/>
                <a:cs typeface="Calibri" pitchFamily="34" charset="-120"/>
              </a:rPr>
              <a:t>minimap2</a:t>
            </a:r>
            <a:endParaRPr lang="en-US" sz="1200" dirty="0"/>
          </a:p>
        </p:txBody>
      </p:sp>
      <p:sp>
        <p:nvSpPr>
          <p:cNvPr id="48" name="Shape 46"/>
          <p:cNvSpPr/>
          <p:nvPr/>
        </p:nvSpPr>
        <p:spPr>
          <a:xfrm>
            <a:off x="7054596" y="3881628"/>
            <a:ext cx="1335024" cy="704088"/>
          </a:xfrm>
          <a:prstGeom prst="roundRect">
            <a:avLst>
              <a:gd name="adj" fmla="val 7792"/>
            </a:avLst>
          </a:prstGeom>
          <a:solidFill>
            <a:srgbClr val="3BC4A8"/>
          </a:solidFill>
          <a:ln w="12700">
            <a:solidFill>
              <a:srgbClr val="3BC4A8"/>
            </a:solidFill>
            <a:prstDash val="solid"/>
          </a:ln>
        </p:spPr>
      </p:sp>
      <p:sp>
        <p:nvSpPr>
          <p:cNvPr id="49" name="Text 47"/>
          <p:cNvSpPr/>
          <p:nvPr/>
        </p:nvSpPr>
        <p:spPr>
          <a:xfrm>
            <a:off x="7054596" y="3881628"/>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0.9970</a:t>
            </a:r>
            <a:endParaRPr lang="en-US" sz="1400" dirty="0"/>
          </a:p>
        </p:txBody>
      </p:sp>
      <p:sp>
        <p:nvSpPr>
          <p:cNvPr id="50" name="Shape 48"/>
          <p:cNvSpPr/>
          <p:nvPr/>
        </p:nvSpPr>
        <p:spPr>
          <a:xfrm>
            <a:off x="8471916" y="3881628"/>
            <a:ext cx="1335024" cy="704088"/>
          </a:xfrm>
          <a:prstGeom prst="roundRect">
            <a:avLst>
              <a:gd name="adj" fmla="val 7792"/>
            </a:avLst>
          </a:prstGeom>
          <a:solidFill>
            <a:srgbClr val="3BC4A8"/>
          </a:solidFill>
          <a:ln w="12700">
            <a:solidFill>
              <a:srgbClr val="3BC4A8"/>
            </a:solidFill>
            <a:prstDash val="solid"/>
          </a:ln>
        </p:spPr>
      </p:sp>
      <p:sp>
        <p:nvSpPr>
          <p:cNvPr id="51" name="Text 49"/>
          <p:cNvSpPr/>
          <p:nvPr/>
        </p:nvSpPr>
        <p:spPr>
          <a:xfrm>
            <a:off x="8471916" y="3881628"/>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0.9975</a:t>
            </a:r>
            <a:endParaRPr lang="en-US" sz="1400" dirty="0"/>
          </a:p>
        </p:txBody>
      </p:sp>
      <p:sp>
        <p:nvSpPr>
          <p:cNvPr id="52" name="Shape 50"/>
          <p:cNvSpPr/>
          <p:nvPr/>
        </p:nvSpPr>
        <p:spPr>
          <a:xfrm>
            <a:off x="9889236" y="3881628"/>
            <a:ext cx="1335024" cy="704088"/>
          </a:xfrm>
          <a:prstGeom prst="roundRect">
            <a:avLst>
              <a:gd name="adj" fmla="val 7792"/>
            </a:avLst>
          </a:prstGeom>
          <a:solidFill>
            <a:srgbClr val="3BC4A8"/>
          </a:solidFill>
          <a:ln w="12700">
            <a:solidFill>
              <a:srgbClr val="3BC4A8"/>
            </a:solidFill>
            <a:prstDash val="solid"/>
          </a:ln>
        </p:spPr>
      </p:sp>
      <p:sp>
        <p:nvSpPr>
          <p:cNvPr id="53" name="Text 51"/>
          <p:cNvSpPr/>
          <p:nvPr/>
        </p:nvSpPr>
        <p:spPr>
          <a:xfrm>
            <a:off x="9889236" y="3881628"/>
            <a:ext cx="1335024" cy="7040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0.9970</a:t>
            </a:r>
            <a:endParaRPr lang="en-US" sz="1400" dirty="0"/>
          </a:p>
        </p:txBody>
      </p:sp>
      <p:sp>
        <p:nvSpPr>
          <p:cNvPr id="54" name="Shape 52"/>
          <p:cNvSpPr/>
          <p:nvPr/>
        </p:nvSpPr>
        <p:spPr>
          <a:xfrm>
            <a:off x="566928" y="4892040"/>
            <a:ext cx="5349240" cy="1371600"/>
          </a:xfrm>
          <a:prstGeom prst="roundRect">
            <a:avLst>
              <a:gd name="adj" fmla="val 5333"/>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55" name="Text 53"/>
          <p:cNvSpPr/>
          <p:nvPr/>
        </p:nvSpPr>
        <p:spPr>
          <a:xfrm>
            <a:off x="841248" y="5029200"/>
            <a:ext cx="4754880" cy="274320"/>
          </a:xfrm>
          <a:prstGeom prst="rect">
            <a:avLst/>
          </a:prstGeom>
          <a:noFill/>
          <a:ln/>
        </p:spPr>
        <p:txBody>
          <a:bodyPr wrap="square" lIns="0" tIns="0" rIns="0" bIns="0" rtlCol="0" anchor="ctr"/>
          <a:lstStyle/>
          <a:p>
            <a:pPr indent="0" marL="0">
              <a:buNone/>
            </a:pPr>
            <a:r>
              <a:rPr lang="en-US" sz="1300" b="1" dirty="0">
                <a:solidFill>
                  <a:srgbClr val="0B2E36"/>
                </a:solidFill>
                <a:latin typeface="Calibri" pitchFamily="34" charset="0"/>
                <a:ea typeface="Calibri" pitchFamily="34" charset="-122"/>
                <a:cs typeface="Calibri" pitchFamily="34" charset="-120"/>
              </a:rPr>
              <a:t>Why F1 is the headline</a:t>
            </a:r>
            <a:endParaRPr lang="en-US" sz="1300" dirty="0"/>
          </a:p>
        </p:txBody>
      </p:sp>
      <p:sp>
        <p:nvSpPr>
          <p:cNvPr id="56" name="Text 54"/>
          <p:cNvSpPr/>
          <p:nvPr/>
        </p:nvSpPr>
        <p:spPr>
          <a:xfrm>
            <a:off x="841248" y="5340096"/>
            <a:ext cx="4846320" cy="822960"/>
          </a:xfrm>
          <a:prstGeom prst="rect">
            <a:avLst/>
          </a:prstGeom>
          <a:noFill/>
          <a:ln/>
        </p:spPr>
        <p:txBody>
          <a:bodyPr wrap="square" lIns="0" tIns="0" rIns="0" bIns="0" rtlCol="0" anchor="ctr"/>
          <a:lstStyle/>
          <a:p>
            <a:pPr indent="0" marL="0">
              <a:lnSpc>
                <a:spcPts val="1400"/>
              </a:lnSpc>
              <a:buNone/>
            </a:pPr>
            <a:r>
              <a:rPr lang="en-US" sz="1150" dirty="0">
                <a:solidFill>
                  <a:srgbClr val="5C7278"/>
                </a:solidFill>
                <a:latin typeface="Calibri" pitchFamily="34" charset="0"/>
                <a:ea typeface="Calibri" pitchFamily="34" charset="-122"/>
                <a:cs typeface="Calibri" pitchFamily="34" charset="-120"/>
              </a:rPr>
              <a:t>A caller reporting only its single most confident variant scores precision 1.0 and recall 0.0002. F1 is the harmonic mean — it correctly calls that useless.</a:t>
            </a:r>
            <a:endParaRPr lang="en-US" sz="1150" dirty="0"/>
          </a:p>
        </p:txBody>
      </p:sp>
      <p:sp>
        <p:nvSpPr>
          <p:cNvPr id="57" name="Shape 55"/>
          <p:cNvSpPr/>
          <p:nvPr/>
        </p:nvSpPr>
        <p:spPr>
          <a:xfrm>
            <a:off x="6272784" y="4892040"/>
            <a:ext cx="5349240" cy="1371600"/>
          </a:xfrm>
          <a:prstGeom prst="roundRect">
            <a:avLst>
              <a:gd name="adj" fmla="val 5333"/>
            </a:avLst>
          </a:prstGeom>
          <a:solidFill>
            <a:srgbClr val="FDF0EC"/>
          </a:solidFill>
          <a:ln w="12700">
            <a:solidFill>
              <a:srgbClr val="FDF0EC"/>
            </a:solidFill>
            <a:prstDash val="solid"/>
          </a:ln>
          <a:effectLst>
            <a:outerShdw sx="100000" sy="100000" kx="0" ky="0" algn="bl" rotWithShape="0" blurRad="127000" dist="25400" dir="5400000">
              <a:srgbClr val="0B2E36">
                <a:alpha val="12000"/>
              </a:srgbClr>
            </a:outerShdw>
          </a:effectLst>
        </p:spPr>
      </p:sp>
      <p:sp>
        <p:nvSpPr>
          <p:cNvPr id="58" name="Text 56"/>
          <p:cNvSpPr/>
          <p:nvPr/>
        </p:nvSpPr>
        <p:spPr>
          <a:xfrm>
            <a:off x="6547104" y="5029200"/>
            <a:ext cx="4754880" cy="274320"/>
          </a:xfrm>
          <a:prstGeom prst="rect">
            <a:avLst/>
          </a:prstGeom>
          <a:noFill/>
          <a:ln/>
        </p:spPr>
        <p:txBody>
          <a:bodyPr wrap="square" lIns="0" tIns="0" rIns="0" bIns="0" rtlCol="0" anchor="ctr"/>
          <a:lstStyle/>
          <a:p>
            <a:pPr indent="0" marL="0">
              <a:buNone/>
            </a:pPr>
            <a:r>
              <a:rPr lang="en-US" sz="1300" b="1" dirty="0">
                <a:solidFill>
                  <a:srgbClr val="E06C4F"/>
                </a:solidFill>
                <a:latin typeface="Calibri" pitchFamily="34" charset="0"/>
                <a:ea typeface="Calibri" pitchFamily="34" charset="-122"/>
                <a:cs typeface="Calibri" pitchFamily="34" charset="-120"/>
              </a:rPr>
              <a:t>phiX scored 1.0000 for all nine</a:t>
            </a:r>
            <a:endParaRPr lang="en-US" sz="1300" dirty="0"/>
          </a:p>
        </p:txBody>
      </p:sp>
      <p:sp>
        <p:nvSpPr>
          <p:cNvPr id="59" name="Text 57"/>
          <p:cNvSpPr/>
          <p:nvPr/>
        </p:nvSpPr>
        <p:spPr>
          <a:xfrm>
            <a:off x="6547104" y="5340096"/>
            <a:ext cx="4846320" cy="822960"/>
          </a:xfrm>
          <a:prstGeom prst="rect">
            <a:avLst/>
          </a:prstGeom>
          <a:noFill/>
          <a:ln/>
        </p:spPr>
        <p:txBody>
          <a:bodyPr wrap="square" lIns="0" tIns="0" rIns="0" bIns="0" rtlCol="0" anchor="ctr"/>
          <a:lstStyle/>
          <a:p>
            <a:pPr indent="0" marL="0">
              <a:lnSpc>
                <a:spcPts val="1400"/>
              </a:lnSpc>
              <a:buNone/>
            </a:pPr>
            <a:r>
              <a:rPr lang="en-US" sz="1150" dirty="0">
                <a:solidFill>
                  <a:srgbClr val="5C7278"/>
                </a:solidFill>
                <a:latin typeface="Calibri" pitchFamily="34" charset="0"/>
                <a:ea typeface="Calibri" pitchFamily="34" charset="-122"/>
                <a:cs typeface="Calibri" pitchFamily="34" charset="-120"/>
              </a:rPr>
              <a:t>5,386 bp with no repetitive sequence — at 30× every variant is unambiguously recoverable. phiX is a smoke test, not a comparison.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E36"/>
        </a:solidFill>
      </p:bgPr>
    </p:bg>
    <p:spTree>
      <p:nvGrpSpPr>
        <p:cNvPr id="1" name=""/>
        <p:cNvGrpSpPr/>
        <p:nvPr/>
      </p:nvGrpSpPr>
      <p:grpSpPr>
        <a:xfrm>
          <a:off x="0" y="0"/>
          <a:ext cx="0" cy="0"/>
          <a:chOff x="0" y="0"/>
          <a:chExt cx="0" cy="0"/>
        </a:xfrm>
      </p:grpSpPr>
      <p:sp>
        <p:nvSpPr>
          <p:cNvPr id="2" name="Text 0"/>
          <p:cNvSpPr/>
          <p:nvPr/>
        </p:nvSpPr>
        <p:spPr>
          <a:xfrm>
            <a:off x="566928" y="566928"/>
            <a:ext cx="7315200" cy="274320"/>
          </a:xfrm>
          <a:prstGeom prst="rect">
            <a:avLst/>
          </a:prstGeom>
          <a:noFill/>
          <a:ln/>
        </p:spPr>
        <p:txBody>
          <a:bodyPr wrap="square" lIns="0" tIns="0" rIns="0" bIns="0" rtlCol="0" anchor="ctr"/>
          <a:lstStyle/>
          <a:p>
            <a:pPr indent="0" marL="0">
              <a:buNone/>
            </a:pPr>
            <a:r>
              <a:rPr lang="en-US" sz="1200" b="1" spc="300" kern="0" dirty="0">
                <a:solidFill>
                  <a:srgbClr val="3BC4A8"/>
                </a:solidFill>
                <a:latin typeface="Calibri" pitchFamily="34" charset="0"/>
                <a:ea typeface="Calibri" pitchFamily="34" charset="-122"/>
                <a:cs typeface="Calibri" pitchFamily="34" charset="-120"/>
              </a:rPr>
              <a:t>THE HEADLINE</a:t>
            </a:r>
            <a:endParaRPr lang="en-US" sz="1200" dirty="0"/>
          </a:p>
        </p:txBody>
      </p:sp>
      <p:sp>
        <p:nvSpPr>
          <p:cNvPr id="3" name="Text 1"/>
          <p:cNvSpPr/>
          <p:nvPr/>
        </p:nvSpPr>
        <p:spPr>
          <a:xfrm>
            <a:off x="566928" y="914400"/>
            <a:ext cx="10515600" cy="128016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At this baseline, the aligner matters</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more than the caller</a:t>
            </a:r>
            <a:endParaRPr lang="en-US" sz="3600" dirty="0"/>
          </a:p>
        </p:txBody>
      </p:sp>
      <p:sp>
        <p:nvSpPr>
          <p:cNvPr id="4" name="Shape 2"/>
          <p:cNvSpPr/>
          <p:nvPr/>
        </p:nvSpPr>
        <p:spPr>
          <a:xfrm>
            <a:off x="566928" y="2514600"/>
            <a:ext cx="3429000" cy="1691640"/>
          </a:xfrm>
          <a:prstGeom prst="roundRect">
            <a:avLst>
              <a:gd name="adj" fmla="val 5405"/>
            </a:avLst>
          </a:prstGeom>
          <a:solidFill>
            <a:srgbClr val="12414C"/>
          </a:solidFill>
          <a:ln w="12700">
            <a:solidFill>
              <a:srgbClr val="12414C"/>
            </a:solidFill>
            <a:prstDash val="solid"/>
          </a:ln>
        </p:spPr>
      </p:sp>
      <p:sp>
        <p:nvSpPr>
          <p:cNvPr id="5" name="Text 3"/>
          <p:cNvSpPr/>
          <p:nvPr/>
        </p:nvSpPr>
        <p:spPr>
          <a:xfrm>
            <a:off x="841248" y="2697480"/>
            <a:ext cx="2926080" cy="685800"/>
          </a:xfrm>
          <a:prstGeom prst="rect">
            <a:avLst/>
          </a:prstGeom>
          <a:noFill/>
          <a:ln/>
        </p:spPr>
        <p:txBody>
          <a:bodyPr wrap="square" lIns="0" tIns="0" rIns="0" bIns="0" rtlCol="0" anchor="ctr"/>
          <a:lstStyle/>
          <a:p>
            <a:pPr indent="0" marL="0">
              <a:buNone/>
            </a:pPr>
            <a:r>
              <a:rPr lang="en-US" sz="4000" b="1" dirty="0">
                <a:solidFill>
                  <a:srgbClr val="3BC4A8"/>
                </a:solidFill>
                <a:latin typeface="Cambria" pitchFamily="34" charset="0"/>
                <a:ea typeface="Cambria" pitchFamily="34" charset="-122"/>
                <a:cs typeface="Cambria" pitchFamily="34" charset="-120"/>
              </a:rPr>
              <a:t>20.5×</a:t>
            </a:r>
            <a:endParaRPr lang="en-US" sz="4000" dirty="0"/>
          </a:p>
        </p:txBody>
      </p:sp>
      <p:sp>
        <p:nvSpPr>
          <p:cNvPr id="6" name="Text 4"/>
          <p:cNvSpPr/>
          <p:nvPr/>
        </p:nvSpPr>
        <p:spPr>
          <a:xfrm>
            <a:off x="841248" y="3401568"/>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aligner effect ÷ caller effect</a:t>
            </a:r>
            <a:endParaRPr lang="en-US" sz="1300" dirty="0"/>
          </a:p>
        </p:txBody>
      </p:sp>
      <p:sp>
        <p:nvSpPr>
          <p:cNvPr id="7" name="Text 5"/>
          <p:cNvSpPr/>
          <p:nvPr/>
        </p:nvSpPr>
        <p:spPr>
          <a:xfrm>
            <a:off x="841248" y="3703320"/>
            <a:ext cx="2926080" cy="365760"/>
          </a:xfrm>
          <a:prstGeom prst="rect">
            <a:avLst/>
          </a:prstGeom>
          <a:noFill/>
          <a:ln/>
        </p:spPr>
        <p:txBody>
          <a:bodyPr wrap="square" lIns="0" tIns="0" rIns="0" bIns="0" rtlCol="0" anchor="ctr"/>
          <a:lstStyle/>
          <a:p>
            <a:pPr indent="0" marL="0">
              <a:buNone/>
            </a:pPr>
            <a:r>
              <a:rPr lang="en-US" sz="1100" dirty="0">
                <a:solidFill>
                  <a:srgbClr val="8FAEB3"/>
                </a:solidFill>
                <a:latin typeface="Calibri" pitchFamily="34" charset="0"/>
                <a:ea typeface="Calibri" pitchFamily="34" charset="-122"/>
                <a:cs typeface="Calibri" pitchFamily="34" charset="-120"/>
              </a:rPr>
              <a:t>SNV — marginal mean F1 spread</a:t>
            </a:r>
            <a:endParaRPr lang="en-US" sz="1100" dirty="0"/>
          </a:p>
        </p:txBody>
      </p:sp>
      <p:sp>
        <p:nvSpPr>
          <p:cNvPr id="8" name="Shape 6"/>
          <p:cNvSpPr/>
          <p:nvPr/>
        </p:nvSpPr>
        <p:spPr>
          <a:xfrm>
            <a:off x="4251960" y="2514600"/>
            <a:ext cx="3429000" cy="1691640"/>
          </a:xfrm>
          <a:prstGeom prst="roundRect">
            <a:avLst>
              <a:gd name="adj" fmla="val 5405"/>
            </a:avLst>
          </a:prstGeom>
          <a:solidFill>
            <a:srgbClr val="12414C"/>
          </a:solidFill>
          <a:ln w="12700">
            <a:solidFill>
              <a:srgbClr val="12414C"/>
            </a:solidFill>
            <a:prstDash val="solid"/>
          </a:ln>
        </p:spPr>
      </p:sp>
      <p:sp>
        <p:nvSpPr>
          <p:cNvPr id="9" name="Text 7"/>
          <p:cNvSpPr/>
          <p:nvPr/>
        </p:nvSpPr>
        <p:spPr>
          <a:xfrm>
            <a:off x="4526280" y="2697480"/>
            <a:ext cx="2926080" cy="685800"/>
          </a:xfrm>
          <a:prstGeom prst="rect">
            <a:avLst/>
          </a:prstGeom>
          <a:noFill/>
          <a:ln/>
        </p:spPr>
        <p:txBody>
          <a:bodyPr wrap="square" lIns="0" tIns="0" rIns="0" bIns="0" rtlCol="0" anchor="ctr"/>
          <a:lstStyle/>
          <a:p>
            <a:pPr indent="0" marL="0">
              <a:buNone/>
            </a:pPr>
            <a:r>
              <a:rPr lang="en-US" sz="4000" b="1" dirty="0">
                <a:solidFill>
                  <a:srgbClr val="3BC4A8"/>
                </a:solidFill>
                <a:latin typeface="Cambria" pitchFamily="34" charset="0"/>
                <a:ea typeface="Cambria" pitchFamily="34" charset="-122"/>
                <a:cs typeface="Cambria" pitchFamily="34" charset="-120"/>
              </a:rPr>
              <a:t>2.2×</a:t>
            </a:r>
            <a:endParaRPr lang="en-US" sz="4000" dirty="0"/>
          </a:p>
        </p:txBody>
      </p:sp>
      <p:sp>
        <p:nvSpPr>
          <p:cNvPr id="10" name="Text 8"/>
          <p:cNvSpPr/>
          <p:nvPr/>
        </p:nvSpPr>
        <p:spPr>
          <a:xfrm>
            <a:off x="4526280" y="3401568"/>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aligner effect ÷ caller effect</a:t>
            </a:r>
            <a:endParaRPr lang="en-US" sz="1300" dirty="0"/>
          </a:p>
        </p:txBody>
      </p:sp>
      <p:sp>
        <p:nvSpPr>
          <p:cNvPr id="11" name="Text 9"/>
          <p:cNvSpPr/>
          <p:nvPr/>
        </p:nvSpPr>
        <p:spPr>
          <a:xfrm>
            <a:off x="4526280" y="3703320"/>
            <a:ext cx="2926080" cy="365760"/>
          </a:xfrm>
          <a:prstGeom prst="rect">
            <a:avLst/>
          </a:prstGeom>
          <a:noFill/>
          <a:ln/>
        </p:spPr>
        <p:txBody>
          <a:bodyPr wrap="square" lIns="0" tIns="0" rIns="0" bIns="0" rtlCol="0" anchor="ctr"/>
          <a:lstStyle/>
          <a:p>
            <a:pPr indent="0" marL="0">
              <a:buNone/>
            </a:pPr>
            <a:r>
              <a:rPr lang="en-US" sz="1100" dirty="0">
                <a:solidFill>
                  <a:srgbClr val="8FAEB3"/>
                </a:solidFill>
                <a:latin typeface="Calibri" pitchFamily="34" charset="0"/>
                <a:ea typeface="Calibri" pitchFamily="34" charset="-122"/>
                <a:cs typeface="Calibri" pitchFamily="34" charset="-120"/>
              </a:rPr>
              <a:t>Indel — marginal mean F1 spread</a:t>
            </a:r>
            <a:endParaRPr lang="en-US" sz="1100" dirty="0"/>
          </a:p>
        </p:txBody>
      </p:sp>
      <p:sp>
        <p:nvSpPr>
          <p:cNvPr id="12" name="Shape 10"/>
          <p:cNvSpPr/>
          <p:nvPr/>
        </p:nvSpPr>
        <p:spPr>
          <a:xfrm>
            <a:off x="7936992" y="2514600"/>
            <a:ext cx="3429000" cy="1691640"/>
          </a:xfrm>
          <a:prstGeom prst="roundRect">
            <a:avLst>
              <a:gd name="adj" fmla="val 5405"/>
            </a:avLst>
          </a:prstGeom>
          <a:solidFill>
            <a:srgbClr val="12414C"/>
          </a:solidFill>
          <a:ln w="12700">
            <a:solidFill>
              <a:srgbClr val="12414C"/>
            </a:solidFill>
            <a:prstDash val="solid"/>
          </a:ln>
        </p:spPr>
      </p:sp>
      <p:sp>
        <p:nvSpPr>
          <p:cNvPr id="13" name="Text 11"/>
          <p:cNvSpPr/>
          <p:nvPr/>
        </p:nvSpPr>
        <p:spPr>
          <a:xfrm>
            <a:off x="8211312" y="2697480"/>
            <a:ext cx="2926080" cy="685800"/>
          </a:xfrm>
          <a:prstGeom prst="rect">
            <a:avLst/>
          </a:prstGeom>
          <a:noFill/>
          <a:ln/>
        </p:spPr>
        <p:txBody>
          <a:bodyPr wrap="square" lIns="0" tIns="0" rIns="0" bIns="0" rtlCol="0" anchor="ctr"/>
          <a:lstStyle/>
          <a:p>
            <a:pPr indent="0" marL="0">
              <a:buNone/>
            </a:pPr>
            <a:r>
              <a:rPr lang="en-US" sz="4000" b="1" dirty="0">
                <a:solidFill>
                  <a:srgbClr val="3BC4A8"/>
                </a:solidFill>
                <a:latin typeface="Cambria" pitchFamily="34" charset="0"/>
                <a:ea typeface="Cambria" pitchFamily="34" charset="-122"/>
                <a:cs typeface="Cambria" pitchFamily="34" charset="-120"/>
              </a:rPr>
              <a:t>7.4×</a:t>
            </a:r>
            <a:endParaRPr lang="en-US" sz="4000" dirty="0"/>
          </a:p>
        </p:txBody>
      </p:sp>
      <p:sp>
        <p:nvSpPr>
          <p:cNvPr id="14" name="Text 12"/>
          <p:cNvSpPr/>
          <p:nvPr/>
        </p:nvSpPr>
        <p:spPr>
          <a:xfrm>
            <a:off x="8211312" y="3401568"/>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more indel errors</a:t>
            </a:r>
            <a:endParaRPr lang="en-US" sz="1300" dirty="0"/>
          </a:p>
        </p:txBody>
      </p:sp>
      <p:sp>
        <p:nvSpPr>
          <p:cNvPr id="15" name="Text 13"/>
          <p:cNvSpPr/>
          <p:nvPr/>
        </p:nvSpPr>
        <p:spPr>
          <a:xfrm>
            <a:off x="8211312" y="3703320"/>
            <a:ext cx="2926080" cy="365760"/>
          </a:xfrm>
          <a:prstGeom prst="rect">
            <a:avLst/>
          </a:prstGeom>
          <a:noFill/>
          <a:ln/>
        </p:spPr>
        <p:txBody>
          <a:bodyPr wrap="square" lIns="0" tIns="0" rIns="0" bIns="0" rtlCol="0" anchor="ctr"/>
          <a:lstStyle/>
          <a:p>
            <a:pPr indent="0" marL="0">
              <a:buNone/>
            </a:pPr>
            <a:r>
              <a:rPr lang="en-US" sz="1100" dirty="0">
                <a:solidFill>
                  <a:srgbClr val="8FAEB3"/>
                </a:solidFill>
                <a:latin typeface="Calibri" pitchFamily="34" charset="0"/>
                <a:ea typeface="Calibri" pitchFamily="34" charset="-122"/>
                <a:cs typeface="Calibri" pitchFamily="34" charset="-120"/>
              </a:rPr>
              <a:t>worst pipeline vs best</a:t>
            </a:r>
            <a:endParaRPr lang="en-US" sz="1100" dirty="0"/>
          </a:p>
        </p:txBody>
      </p:sp>
      <p:sp>
        <p:nvSpPr>
          <p:cNvPr id="16" name="Text 14"/>
          <p:cNvSpPr/>
          <p:nvPr/>
        </p:nvSpPr>
        <p:spPr>
          <a:xfrm>
            <a:off x="566928" y="4434840"/>
            <a:ext cx="6583680" cy="292608"/>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Likely mechanism — a hypothesis, not yet proven</a:t>
            </a:r>
            <a:endParaRPr lang="en-US" sz="1300" dirty="0"/>
          </a:p>
        </p:txBody>
      </p:sp>
      <p:sp>
        <p:nvSpPr>
          <p:cNvPr id="17" name="Text 15"/>
          <p:cNvSpPr/>
          <p:nvPr/>
        </p:nvSpPr>
        <p:spPr>
          <a:xfrm>
            <a:off x="566928" y="4754880"/>
            <a:ext cx="6583680" cy="1188720"/>
          </a:xfrm>
          <a:prstGeom prst="rect">
            <a:avLst/>
          </a:prstGeom>
          <a:noFill/>
          <a:ln/>
        </p:spPr>
        <p:txBody>
          <a:bodyPr wrap="square" lIns="0" tIns="0" rIns="0" bIns="0" rtlCol="0" anchor="ctr"/>
          <a:lstStyle/>
          <a:p>
            <a:pPr indent="0" marL="0">
              <a:lnSpc>
                <a:spcPts val="1600"/>
              </a:lnSpc>
              <a:buNone/>
            </a:pPr>
            <a:r>
              <a:rPr lang="en-US" sz="1200" dirty="0">
                <a:solidFill>
                  <a:srgbClr val="BBD3D6"/>
                </a:solidFill>
                <a:latin typeface="Calibri" pitchFamily="34" charset="0"/>
                <a:ea typeface="Calibri" pitchFamily="34" charset="-122"/>
                <a:cs typeface="Calibri" pitchFamily="34" charset="-120"/>
              </a:rPr>
              <a:t>Bowtie2's MAPQ caps at 42 where the others cap at 60. Callers filter on MAPQ with tool-agnostic thresholds, so the same cut-off is a stricter filter on Bowtie2. Consistent with the data: Bowtie2+GATK has the worst SNV false-negative count (90 vs 47) with zero false positives — the signature of a caller discarding evidence.</a:t>
            </a:r>
            <a:endParaRPr lang="en-US" sz="1200" dirty="0"/>
          </a:p>
        </p:txBody>
      </p:sp>
      <p:sp>
        <p:nvSpPr>
          <p:cNvPr id="18" name="Shape 16"/>
          <p:cNvSpPr/>
          <p:nvPr/>
        </p:nvSpPr>
        <p:spPr>
          <a:xfrm>
            <a:off x="7589520" y="4434840"/>
            <a:ext cx="4041648" cy="1600200"/>
          </a:xfrm>
          <a:prstGeom prst="roundRect">
            <a:avLst>
              <a:gd name="adj" fmla="val 5714"/>
            </a:avLst>
          </a:prstGeom>
          <a:solidFill>
            <a:srgbClr val="3A2420"/>
          </a:solidFill>
          <a:ln w="12700">
            <a:solidFill>
              <a:srgbClr val="E06C4F"/>
            </a:solidFill>
            <a:prstDash val="solid"/>
          </a:ln>
        </p:spPr>
      </p:sp>
      <p:sp>
        <p:nvSpPr>
          <p:cNvPr id="19" name="Text 17"/>
          <p:cNvSpPr/>
          <p:nvPr/>
        </p:nvSpPr>
        <p:spPr>
          <a:xfrm>
            <a:off x="7863840" y="4590288"/>
            <a:ext cx="3566160" cy="274320"/>
          </a:xfrm>
          <a:prstGeom prst="rect">
            <a:avLst/>
          </a:prstGeom>
          <a:noFill/>
          <a:ln/>
        </p:spPr>
        <p:txBody>
          <a:bodyPr wrap="square" lIns="0" tIns="0" rIns="0" bIns="0" rtlCol="0" anchor="ctr"/>
          <a:lstStyle/>
          <a:p>
            <a:pPr indent="0" marL="0">
              <a:buNone/>
            </a:pPr>
            <a:r>
              <a:rPr lang="en-US" sz="1250" b="1" dirty="0">
                <a:solidFill>
                  <a:srgbClr val="E06C4F"/>
                </a:solidFill>
                <a:latin typeface="Calibri" pitchFamily="34" charset="0"/>
                <a:ea typeface="Calibri" pitchFamily="34" charset="-122"/>
                <a:cs typeface="Calibri" pitchFamily="34" charset="-120"/>
              </a:rPr>
              <a:t>Limitation, stated up front</a:t>
            </a:r>
            <a:endParaRPr lang="en-US" sz="1250" dirty="0"/>
          </a:p>
        </p:txBody>
      </p:sp>
      <p:sp>
        <p:nvSpPr>
          <p:cNvPr id="20" name="Text 18"/>
          <p:cNvSpPr/>
          <p:nvPr/>
        </p:nvSpPr>
        <p:spPr>
          <a:xfrm>
            <a:off x="7863840" y="4919472"/>
            <a:ext cx="3520440" cy="1005840"/>
          </a:xfrm>
          <a:prstGeom prst="rect">
            <a:avLst/>
          </a:prstGeom>
          <a:noFill/>
          <a:ln/>
        </p:spPr>
        <p:txBody>
          <a:bodyPr wrap="square" lIns="0" tIns="0" rIns="0" bIns="0" rtlCol="0" anchor="ctr"/>
          <a:lstStyle/>
          <a:p>
            <a:pPr indent="0" marL="0">
              <a:lnSpc>
                <a:spcPts val="1400"/>
              </a:lnSpc>
              <a:buNone/>
            </a:pPr>
            <a:r>
              <a:rPr lang="en-US" sz="1150" dirty="0">
                <a:solidFill>
                  <a:srgbClr val="E8C4BB"/>
                </a:solidFill>
                <a:latin typeface="Calibri" pitchFamily="34" charset="0"/>
                <a:ea typeface="Calibri" pitchFamily="34" charset="-122"/>
                <a:cs typeface="Calibri" pitchFamily="34" charset="-120"/>
              </a:rPr>
              <a:t>One seed, one condition. The SNV spread is 0.0047 and nothing yet shows it exceeds seed-to-seed noise. The sweep's 5 seeds give the first variance estimate.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RESULTS · INDEL DETAIL</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Precision is free — the difference is recall</a:t>
            </a:r>
            <a:endParaRPr lang="en-US" sz="3400" dirty="0"/>
          </a:p>
        </p:txBody>
      </p:sp>
      <p:graphicFrame>
        <p:nvGraphicFramePr>
          <p:cNvPr id="4" name="Chart 0" descr=""/>
          <p:cNvGraphicFramePr/>
          <p:nvPr/>
        </p:nvGraphicFramePr>
        <p:xfrm>
          <a:off x="566928" y="1645920"/>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91640"/>
            <a:ext cx="4114800" cy="1234440"/>
          </a:xfrm>
          <a:prstGeom prst="roundRect">
            <a:avLst>
              <a:gd name="adj" fmla="val 592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6" name="Shape 3"/>
          <p:cNvSpPr/>
          <p:nvPr/>
        </p:nvSpPr>
        <p:spPr>
          <a:xfrm>
            <a:off x="7726680" y="1892808"/>
            <a:ext cx="146304" cy="146304"/>
          </a:xfrm>
          <a:prstGeom prst="ellipse">
            <a:avLst/>
          </a:prstGeom>
          <a:solidFill>
            <a:srgbClr val="0E7C86"/>
          </a:solidFill>
          <a:ln w="12700">
            <a:solidFill>
              <a:srgbClr val="0E7C86"/>
            </a:solidFill>
            <a:prstDash val="solid"/>
          </a:ln>
        </p:spPr>
      </p:sp>
      <p:sp>
        <p:nvSpPr>
          <p:cNvPr id="7" name="Text 4"/>
          <p:cNvSpPr/>
          <p:nvPr/>
        </p:nvSpPr>
        <p:spPr>
          <a:xfrm>
            <a:off x="7973568" y="1801368"/>
            <a:ext cx="3429000" cy="329184"/>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Seven of nine make zero false positives</a:t>
            </a:r>
            <a:endParaRPr lang="en-US" sz="1250" dirty="0"/>
          </a:p>
        </p:txBody>
      </p:sp>
      <p:sp>
        <p:nvSpPr>
          <p:cNvPr id="8" name="Text 5"/>
          <p:cNvSpPr/>
          <p:nvPr/>
        </p:nvSpPr>
        <p:spPr>
          <a:xfrm>
            <a:off x="7726680" y="2148840"/>
            <a:ext cx="3657600" cy="713232"/>
          </a:xfrm>
          <a:prstGeom prst="rect">
            <a:avLst/>
          </a:prstGeom>
          <a:noFill/>
          <a:ln/>
        </p:spPr>
        <p:txBody>
          <a:bodyPr wrap="square" lIns="0" tIns="0" rIns="0" bIns="0" rtlCol="0" anchor="ctr"/>
          <a:lstStyle/>
          <a:p>
            <a:pPr indent="0" marL="0">
              <a:lnSpc>
                <a:spcPts val="1300"/>
              </a:lnSpc>
              <a:buNone/>
            </a:pPr>
            <a:r>
              <a:rPr lang="en-US" sz="1100" dirty="0">
                <a:solidFill>
                  <a:srgbClr val="5C7278"/>
                </a:solidFill>
                <a:latin typeface="Calibri" pitchFamily="34" charset="0"/>
                <a:ea typeface="Calibri" pitchFamily="34" charset="-122"/>
                <a:cs typeface="Calibri" pitchFamily="34" charset="-120"/>
              </a:rPr>
              <a:t>There is no precision/recall trade-off to exploit — the pipelines differ almost entirely in what they miss.</a:t>
            </a:r>
            <a:endParaRPr lang="en-US" sz="1100" dirty="0"/>
          </a:p>
        </p:txBody>
      </p:sp>
      <p:sp>
        <p:nvSpPr>
          <p:cNvPr id="9" name="Shape 6"/>
          <p:cNvSpPr/>
          <p:nvPr/>
        </p:nvSpPr>
        <p:spPr>
          <a:xfrm>
            <a:off x="7498080" y="3108960"/>
            <a:ext cx="4114800" cy="1234440"/>
          </a:xfrm>
          <a:prstGeom prst="roundRect">
            <a:avLst>
              <a:gd name="adj" fmla="val 592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0" name="Shape 7"/>
          <p:cNvSpPr/>
          <p:nvPr/>
        </p:nvSpPr>
        <p:spPr>
          <a:xfrm>
            <a:off x="7726680" y="3310128"/>
            <a:ext cx="146304" cy="146304"/>
          </a:xfrm>
          <a:prstGeom prst="ellipse">
            <a:avLst/>
          </a:prstGeom>
          <a:solidFill>
            <a:srgbClr val="E06C4F"/>
          </a:solidFill>
          <a:ln w="12700">
            <a:solidFill>
              <a:srgbClr val="E06C4F"/>
            </a:solidFill>
            <a:prstDash val="solid"/>
          </a:ln>
        </p:spPr>
      </p:sp>
      <p:sp>
        <p:nvSpPr>
          <p:cNvPr id="11" name="Text 8"/>
          <p:cNvSpPr/>
          <p:nvPr/>
        </p:nvSpPr>
        <p:spPr>
          <a:xfrm>
            <a:off x="7973568" y="3218688"/>
            <a:ext cx="3429000" cy="329184"/>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The Bowtie2 group is lower, whichever caller</a:t>
            </a:r>
            <a:endParaRPr lang="en-US" sz="1250" dirty="0"/>
          </a:p>
        </p:txBody>
      </p:sp>
      <p:sp>
        <p:nvSpPr>
          <p:cNvPr id="12" name="Text 9"/>
          <p:cNvSpPr/>
          <p:nvPr/>
        </p:nvSpPr>
        <p:spPr>
          <a:xfrm>
            <a:off x="7726680" y="3566160"/>
            <a:ext cx="3657600" cy="713232"/>
          </a:xfrm>
          <a:prstGeom prst="rect">
            <a:avLst/>
          </a:prstGeom>
          <a:noFill/>
          <a:ln/>
        </p:spPr>
        <p:txBody>
          <a:bodyPr wrap="square" lIns="0" tIns="0" rIns="0" bIns="0" rtlCol="0" anchor="ctr"/>
          <a:lstStyle/>
          <a:p>
            <a:pPr indent="0" marL="0">
              <a:lnSpc>
                <a:spcPts val="1300"/>
              </a:lnSpc>
              <a:buNone/>
            </a:pPr>
            <a:r>
              <a:rPr lang="en-US" sz="1100" dirty="0">
                <a:solidFill>
                  <a:srgbClr val="5C7278"/>
                </a:solidFill>
                <a:latin typeface="Calibri" pitchFamily="34" charset="0"/>
                <a:ea typeface="Calibri" pitchFamily="34" charset="-122"/>
                <a:cs typeface="Calibri" pitchFamily="34" charset="-120"/>
              </a:rPr>
              <a:t>All three Bowtie2 bars sit below every BWA and minimap2 bar. The aligner sets the ceiling.</a:t>
            </a:r>
            <a:endParaRPr lang="en-US" sz="1100" dirty="0"/>
          </a:p>
        </p:txBody>
      </p:sp>
      <p:sp>
        <p:nvSpPr>
          <p:cNvPr id="13" name="Shape 10"/>
          <p:cNvSpPr/>
          <p:nvPr/>
        </p:nvSpPr>
        <p:spPr>
          <a:xfrm>
            <a:off x="7498080" y="4526280"/>
            <a:ext cx="4114800" cy="1234440"/>
          </a:xfrm>
          <a:prstGeom prst="roundRect">
            <a:avLst>
              <a:gd name="adj" fmla="val 5926"/>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4" name="Shape 11"/>
          <p:cNvSpPr/>
          <p:nvPr/>
        </p:nvSpPr>
        <p:spPr>
          <a:xfrm>
            <a:off x="7726680" y="4727448"/>
            <a:ext cx="146304" cy="146304"/>
          </a:xfrm>
          <a:prstGeom prst="ellipse">
            <a:avLst/>
          </a:prstGeom>
          <a:solidFill>
            <a:srgbClr val="E8A33D"/>
          </a:solidFill>
          <a:ln w="12700">
            <a:solidFill>
              <a:srgbClr val="E8A33D"/>
            </a:solidFill>
            <a:prstDash val="solid"/>
          </a:ln>
        </p:spPr>
      </p:sp>
      <p:sp>
        <p:nvSpPr>
          <p:cNvPr id="15" name="Text 12"/>
          <p:cNvSpPr/>
          <p:nvPr/>
        </p:nvSpPr>
        <p:spPr>
          <a:xfrm>
            <a:off x="7973568" y="4636008"/>
            <a:ext cx="3429000" cy="329184"/>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Why a single F1 is not enough</a:t>
            </a:r>
            <a:endParaRPr lang="en-US" sz="1250" dirty="0"/>
          </a:p>
        </p:txBody>
      </p:sp>
      <p:sp>
        <p:nvSpPr>
          <p:cNvPr id="16" name="Text 13"/>
          <p:cNvSpPr/>
          <p:nvPr/>
        </p:nvSpPr>
        <p:spPr>
          <a:xfrm>
            <a:off x="7726680" y="4983480"/>
            <a:ext cx="3657600" cy="713232"/>
          </a:xfrm>
          <a:prstGeom prst="rect">
            <a:avLst/>
          </a:prstGeom>
          <a:noFill/>
          <a:ln/>
        </p:spPr>
        <p:txBody>
          <a:bodyPr wrap="square" lIns="0" tIns="0" rIns="0" bIns="0" rtlCol="0" anchor="ctr"/>
          <a:lstStyle/>
          <a:p>
            <a:pPr indent="0" marL="0">
              <a:lnSpc>
                <a:spcPts val="1300"/>
              </a:lnSpc>
              <a:buNone/>
            </a:pPr>
            <a:r>
              <a:rPr lang="en-US" sz="1100" dirty="0">
                <a:solidFill>
                  <a:srgbClr val="5C7278"/>
                </a:solidFill>
                <a:latin typeface="Calibri" pitchFamily="34" charset="0"/>
                <a:ea typeface="Calibri" pitchFamily="34" charset="-122"/>
                <a:cs typeface="Calibri" pitchFamily="34" charset="-120"/>
              </a:rPr>
              <a:t>F1 is one threshold, and QUAL is not calibrated the same way across the three callers — so comparing single F1 values partly compares quality scales.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E36"/>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indent="0" marL="0">
              <a:buNone/>
            </a:pPr>
            <a:r>
              <a:rPr lang="en-US" sz="1200" b="1" spc="300" kern="0" dirty="0">
                <a:solidFill>
                  <a:srgbClr val="E06C4F"/>
                </a:solidFill>
                <a:latin typeface="Calibri" pitchFamily="34" charset="0"/>
                <a:ea typeface="Calibri" pitchFamily="34" charset="-122"/>
                <a:cs typeface="Calibri" pitchFamily="34" charset="-120"/>
              </a:rPr>
              <a:t>WHAT NEARLY WENT WRONG</a:t>
            </a:r>
            <a:endParaRPr lang="en-US" sz="1200" dirty="0"/>
          </a:p>
        </p:txBody>
      </p:sp>
      <p:sp>
        <p:nvSpPr>
          <p:cNvPr id="3" name="Text 1"/>
          <p:cNvSpPr/>
          <p:nvPr/>
        </p:nvSpPr>
        <p:spPr>
          <a:xfrm>
            <a:off x="566928" y="777240"/>
            <a:ext cx="10607040" cy="914400"/>
          </a:xfrm>
          <a:prstGeom prst="rect">
            <a:avLst/>
          </a:prstGeom>
          <a:noFill/>
          <a:ln/>
        </p:spPr>
        <p:txBody>
          <a:bodyPr wrap="square" lIns="0" tIns="0" rIns="0" bIns="0" rtlCol="0" anchor="ctr"/>
          <a:lstStyle/>
          <a:p>
            <a:pPr indent="0" marL="0">
              <a:lnSpc>
                <a:spcPts val="3400"/>
              </a:lnSpc>
              <a:buNone/>
            </a:pPr>
            <a:r>
              <a:rPr lang="en-US" sz="2900" b="1" dirty="0">
                <a:solidFill>
                  <a:srgbClr val="FFFFFF"/>
                </a:solidFill>
                <a:latin typeface="Cambria" pitchFamily="34" charset="0"/>
                <a:ea typeface="Cambria" pitchFamily="34" charset="-122"/>
                <a:cs typeface="Cambria" pitchFamily="34" charset="-120"/>
              </a:rPr>
              <a:t>Three ways this benchmark could have produced</a:t>
            </a:r>
            <a:endParaRPr lang="en-US" sz="2900" dirty="0"/>
          </a:p>
          <a:p>
            <a:pPr indent="0" marL="0">
              <a:lnSpc>
                <a:spcPts val="3400"/>
              </a:lnSpc>
              <a:buNone/>
            </a:pPr>
            <a:r>
              <a:rPr lang="en-US" sz="2900" b="1" dirty="0">
                <a:solidFill>
                  <a:srgbClr val="FFFFFF"/>
                </a:solidFill>
                <a:latin typeface="Cambria" pitchFamily="34" charset="0"/>
                <a:ea typeface="Cambria" pitchFamily="34" charset="-122"/>
                <a:cs typeface="Cambria" pitchFamily="34" charset="-120"/>
              </a:rPr>
              <a:t>confident, wrong numbers</a:t>
            </a:r>
            <a:endParaRPr lang="en-US" sz="2900" dirty="0"/>
          </a:p>
        </p:txBody>
      </p:sp>
      <p:sp>
        <p:nvSpPr>
          <p:cNvPr id="4" name="Shape 2"/>
          <p:cNvSpPr/>
          <p:nvPr/>
        </p:nvSpPr>
        <p:spPr>
          <a:xfrm>
            <a:off x="566928" y="1938528"/>
            <a:ext cx="11055096" cy="1152144"/>
          </a:xfrm>
          <a:prstGeom prst="roundRect">
            <a:avLst>
              <a:gd name="adj" fmla="val 6349"/>
            </a:avLst>
          </a:prstGeom>
          <a:solidFill>
            <a:srgbClr val="12414C"/>
          </a:solidFill>
          <a:ln w="12700">
            <a:solidFill>
              <a:srgbClr val="12414C"/>
            </a:solidFill>
            <a:prstDash val="solid"/>
          </a:ln>
        </p:spPr>
      </p:sp>
      <p:sp>
        <p:nvSpPr>
          <p:cNvPr id="5" name="Shape 3"/>
          <p:cNvSpPr/>
          <p:nvPr/>
        </p:nvSpPr>
        <p:spPr>
          <a:xfrm>
            <a:off x="822960" y="2304288"/>
            <a:ext cx="420624" cy="420624"/>
          </a:xfrm>
          <a:prstGeom prst="ellipse">
            <a:avLst/>
          </a:prstGeom>
          <a:solidFill>
            <a:srgbClr val="E06C4F"/>
          </a:solidFill>
          <a:ln w="12700">
            <a:solidFill>
              <a:srgbClr val="E06C4F"/>
            </a:solidFill>
            <a:prstDash val="solid"/>
          </a:ln>
        </p:spPr>
      </p:sp>
      <p:sp>
        <p:nvSpPr>
          <p:cNvPr id="6" name="Text 4"/>
          <p:cNvSpPr/>
          <p:nvPr/>
        </p:nvSpPr>
        <p:spPr>
          <a:xfrm>
            <a:off x="822960" y="2304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08176" y="2084832"/>
            <a:ext cx="22860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Ploidy</a:t>
            </a:r>
            <a:endParaRPr lang="en-US" sz="1500" dirty="0"/>
          </a:p>
        </p:txBody>
      </p:sp>
      <p:sp>
        <p:nvSpPr>
          <p:cNvPr id="8" name="Text 6"/>
          <p:cNvSpPr/>
          <p:nvPr/>
        </p:nvSpPr>
        <p:spPr>
          <a:xfrm>
            <a:off x="1408176" y="2414016"/>
            <a:ext cx="2834640" cy="603504"/>
          </a:xfrm>
          <a:prstGeom prst="rect">
            <a:avLst/>
          </a:prstGeom>
          <a:noFill/>
          <a:ln/>
        </p:spPr>
        <p:txBody>
          <a:bodyPr wrap="square" lIns="0" tIns="0" rIns="0" bIns="0" rtlCol="0" anchor="ctr"/>
          <a:lstStyle/>
          <a:p>
            <a:pPr indent="0" marL="0">
              <a:lnSpc>
                <a:spcPts val="1250"/>
              </a:lnSpc>
              <a:buNone/>
            </a:pPr>
            <a:r>
              <a:rPr lang="en-US" sz="1050" dirty="0">
                <a:solidFill>
                  <a:srgbClr val="8FAEB3"/>
                </a:solidFill>
                <a:latin typeface="Calibri" pitchFamily="34" charset="0"/>
                <a:ea typeface="Calibri" pitchFamily="34" charset="-122"/>
                <a:cs typeface="Calibri" pitchFamily="34" charset="-120"/>
              </a:rPr>
              <a:t>These organisms are haploid. All three callers default to diploid.</a:t>
            </a:r>
            <a:endParaRPr lang="en-US" sz="1050" dirty="0"/>
          </a:p>
        </p:txBody>
      </p:sp>
      <p:sp>
        <p:nvSpPr>
          <p:cNvPr id="9" name="Text 7"/>
          <p:cNvSpPr/>
          <p:nvPr/>
        </p:nvSpPr>
        <p:spPr>
          <a:xfrm>
            <a:off x="4453128" y="2084832"/>
            <a:ext cx="3840480" cy="237744"/>
          </a:xfrm>
          <a:prstGeom prst="rect">
            <a:avLst/>
          </a:prstGeom>
          <a:noFill/>
          <a:ln/>
        </p:spPr>
        <p:txBody>
          <a:bodyPr wrap="square" lIns="0" tIns="0" rIns="0" bIns="0" rtlCol="0" anchor="ctr"/>
          <a:lstStyle/>
          <a:p>
            <a:pPr indent="0" marL="0">
              <a:buNone/>
            </a:pPr>
            <a:r>
              <a:rPr lang="en-US" sz="900" b="1" spc="100" kern="0" dirty="0">
                <a:solidFill>
                  <a:srgbClr val="E06C4F"/>
                </a:solidFill>
                <a:latin typeface="Calibri" pitchFamily="34" charset="0"/>
                <a:ea typeface="Calibri" pitchFamily="34" charset="-122"/>
                <a:cs typeface="Calibri" pitchFamily="34" charset="-120"/>
              </a:rPr>
              <a:t>WOULD HAVE SHOWN</a:t>
            </a:r>
            <a:endParaRPr lang="en-US" sz="900" dirty="0"/>
          </a:p>
        </p:txBody>
      </p:sp>
      <p:sp>
        <p:nvSpPr>
          <p:cNvPr id="10" name="Text 8"/>
          <p:cNvSpPr/>
          <p:nvPr/>
        </p:nvSpPr>
        <p:spPr>
          <a:xfrm>
            <a:off x="4453128" y="2340864"/>
            <a:ext cx="3931920" cy="676656"/>
          </a:xfrm>
          <a:prstGeom prst="rect">
            <a:avLst/>
          </a:prstGeom>
          <a:noFill/>
          <a:ln/>
        </p:spPr>
        <p:txBody>
          <a:bodyPr wrap="square" lIns="0" tIns="0" rIns="0" bIns="0" rtlCol="0" anchor="ctr"/>
          <a:lstStyle/>
          <a:p>
            <a:pPr indent="0" marL="0">
              <a:lnSpc>
                <a:spcPts val="1250"/>
              </a:lnSpc>
              <a:buNone/>
            </a:pPr>
            <a:r>
              <a:rPr lang="en-US" sz="1050" dirty="0">
                <a:solidFill>
                  <a:srgbClr val="FFFFFF"/>
                </a:solidFill>
                <a:latin typeface="Calibri" pitchFamily="34" charset="0"/>
                <a:ea typeface="Calibri" pitchFamily="34" charset="-122"/>
                <a:cs typeface="Calibri" pitchFamily="34" charset="-120"/>
              </a:rPr>
              <a:t>Nothing. No error message — and scoring cannot detect it: a caller emitting 1/1 scores a PERFECT F1 against haploid truth.</a:t>
            </a:r>
            <a:endParaRPr lang="en-US" sz="1050" dirty="0"/>
          </a:p>
        </p:txBody>
      </p:sp>
      <p:sp>
        <p:nvSpPr>
          <p:cNvPr id="11" name="Text 9"/>
          <p:cNvSpPr/>
          <p:nvPr/>
        </p:nvSpPr>
        <p:spPr>
          <a:xfrm>
            <a:off x="8567928" y="2084832"/>
            <a:ext cx="2926080" cy="237744"/>
          </a:xfrm>
          <a:prstGeom prst="rect">
            <a:avLst/>
          </a:prstGeom>
          <a:noFill/>
          <a:ln/>
        </p:spPr>
        <p:txBody>
          <a:bodyPr wrap="square" lIns="0" tIns="0" rIns="0" bIns="0" rtlCol="0" anchor="ctr"/>
          <a:lstStyle/>
          <a:p>
            <a:pPr indent="0" marL="0">
              <a:buNone/>
            </a:pPr>
            <a:r>
              <a:rPr lang="en-US" sz="900" b="1" spc="100" kern="0" dirty="0">
                <a:solidFill>
                  <a:srgbClr val="3BC4A8"/>
                </a:solidFill>
                <a:latin typeface="Calibri" pitchFamily="34" charset="0"/>
                <a:ea typeface="Calibri" pitchFamily="34" charset="-122"/>
                <a:cs typeface="Calibri" pitchFamily="34" charset="-120"/>
              </a:rPr>
              <a:t>CAUGHT BY</a:t>
            </a:r>
            <a:endParaRPr lang="en-US" sz="900" dirty="0"/>
          </a:p>
        </p:txBody>
      </p:sp>
      <p:sp>
        <p:nvSpPr>
          <p:cNvPr id="12" name="Text 10"/>
          <p:cNvSpPr/>
          <p:nvPr/>
        </p:nvSpPr>
        <p:spPr>
          <a:xfrm>
            <a:off x="8567928" y="2340864"/>
            <a:ext cx="3017520" cy="676656"/>
          </a:xfrm>
          <a:prstGeom prst="rect">
            <a:avLst/>
          </a:prstGeom>
          <a:noFill/>
          <a:ln/>
        </p:spPr>
        <p:txBody>
          <a:bodyPr wrap="square" lIns="0" tIns="0" rIns="0" bIns="0" rtlCol="0" anchor="ctr"/>
          <a:lstStyle/>
          <a:p>
            <a:pPr indent="0" marL="0">
              <a:lnSpc>
                <a:spcPts val="1250"/>
              </a:lnSpc>
              <a:buNone/>
            </a:pPr>
            <a:r>
              <a:rPr lang="en-US" sz="1050" dirty="0">
                <a:solidFill>
                  <a:srgbClr val="BBD3D6"/>
                </a:solidFill>
                <a:latin typeface="Calibri" pitchFamily="34" charset="0"/>
                <a:ea typeface="Calibri" pitchFamily="34" charset="-122"/>
                <a:cs typeface="Calibri" pitchFamily="34" charset="-120"/>
              </a:rPr>
              <a:t>Grepping the genotype field directly on all 18 call sets</a:t>
            </a:r>
            <a:endParaRPr lang="en-US" sz="1050" dirty="0"/>
          </a:p>
        </p:txBody>
      </p:sp>
      <p:sp>
        <p:nvSpPr>
          <p:cNvPr id="13" name="Shape 11"/>
          <p:cNvSpPr/>
          <p:nvPr/>
        </p:nvSpPr>
        <p:spPr>
          <a:xfrm>
            <a:off x="566928" y="3236976"/>
            <a:ext cx="11055096" cy="1152144"/>
          </a:xfrm>
          <a:prstGeom prst="roundRect">
            <a:avLst>
              <a:gd name="adj" fmla="val 6349"/>
            </a:avLst>
          </a:prstGeom>
          <a:solidFill>
            <a:srgbClr val="12414C"/>
          </a:solidFill>
          <a:ln w="12700">
            <a:solidFill>
              <a:srgbClr val="12414C"/>
            </a:solidFill>
            <a:prstDash val="solid"/>
          </a:ln>
        </p:spPr>
      </p:sp>
      <p:sp>
        <p:nvSpPr>
          <p:cNvPr id="14" name="Shape 12"/>
          <p:cNvSpPr/>
          <p:nvPr/>
        </p:nvSpPr>
        <p:spPr>
          <a:xfrm>
            <a:off x="822960" y="3602736"/>
            <a:ext cx="420624" cy="420624"/>
          </a:xfrm>
          <a:prstGeom prst="ellipse">
            <a:avLst/>
          </a:prstGeom>
          <a:solidFill>
            <a:srgbClr val="E06C4F"/>
          </a:solidFill>
          <a:ln w="12700">
            <a:solidFill>
              <a:srgbClr val="E06C4F"/>
            </a:solidFill>
            <a:prstDash val="solid"/>
          </a:ln>
        </p:spPr>
      </p:sp>
      <p:sp>
        <p:nvSpPr>
          <p:cNvPr id="15" name="Text 13"/>
          <p:cNvSpPr/>
          <p:nvPr/>
        </p:nvSpPr>
        <p:spPr>
          <a:xfrm>
            <a:off x="822960" y="3602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1408176" y="3383280"/>
            <a:ext cx="22860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Coordinate systems</a:t>
            </a:r>
            <a:endParaRPr lang="en-US" sz="1500" dirty="0"/>
          </a:p>
        </p:txBody>
      </p:sp>
      <p:sp>
        <p:nvSpPr>
          <p:cNvPr id="17" name="Text 15"/>
          <p:cNvSpPr/>
          <p:nvPr/>
        </p:nvSpPr>
        <p:spPr>
          <a:xfrm>
            <a:off x="1408176" y="3712464"/>
            <a:ext cx="2834640" cy="603504"/>
          </a:xfrm>
          <a:prstGeom prst="rect">
            <a:avLst/>
          </a:prstGeom>
          <a:noFill/>
          <a:ln/>
        </p:spPr>
        <p:txBody>
          <a:bodyPr wrap="square" lIns="0" tIns="0" rIns="0" bIns="0" rtlCol="0" anchor="ctr"/>
          <a:lstStyle/>
          <a:p>
            <a:pPr indent="0" marL="0">
              <a:lnSpc>
                <a:spcPts val="1250"/>
              </a:lnSpc>
              <a:buNone/>
            </a:pPr>
            <a:r>
              <a:rPr lang="en-US" sz="1050" dirty="0">
                <a:solidFill>
                  <a:srgbClr val="8FAEB3"/>
                </a:solidFill>
                <a:latin typeface="Calibri" pitchFamily="34" charset="0"/>
                <a:ea typeface="Calibri" pitchFamily="34" charset="-122"/>
                <a:cs typeface="Calibri" pitchFamily="34" charset="-120"/>
              </a:rPr>
              <a:t>The simulator's truth file uses mutated-genome coordinates; aligners report reference coordinates. Same contig name.</a:t>
            </a:r>
            <a:endParaRPr lang="en-US" sz="1050" dirty="0"/>
          </a:p>
        </p:txBody>
      </p:sp>
      <p:sp>
        <p:nvSpPr>
          <p:cNvPr id="18" name="Text 16"/>
          <p:cNvSpPr/>
          <p:nvPr/>
        </p:nvSpPr>
        <p:spPr>
          <a:xfrm>
            <a:off x="4453128" y="3383280"/>
            <a:ext cx="3840480" cy="237744"/>
          </a:xfrm>
          <a:prstGeom prst="rect">
            <a:avLst/>
          </a:prstGeom>
          <a:noFill/>
          <a:ln/>
        </p:spPr>
        <p:txBody>
          <a:bodyPr wrap="square" lIns="0" tIns="0" rIns="0" bIns="0" rtlCol="0" anchor="ctr"/>
          <a:lstStyle/>
          <a:p>
            <a:pPr indent="0" marL="0">
              <a:buNone/>
            </a:pPr>
            <a:r>
              <a:rPr lang="en-US" sz="900" b="1" spc="100" kern="0" dirty="0">
                <a:solidFill>
                  <a:srgbClr val="E06C4F"/>
                </a:solidFill>
                <a:latin typeface="Calibri" pitchFamily="34" charset="0"/>
                <a:ea typeface="Calibri" pitchFamily="34" charset="-122"/>
                <a:cs typeface="Calibri" pitchFamily="34" charset="-120"/>
              </a:rPr>
              <a:t>WOULD HAVE SHOWN</a:t>
            </a:r>
            <a:endParaRPr lang="en-US" sz="900" dirty="0"/>
          </a:p>
        </p:txBody>
      </p:sp>
      <p:sp>
        <p:nvSpPr>
          <p:cNvPr id="19" name="Text 17"/>
          <p:cNvSpPr/>
          <p:nvPr/>
        </p:nvSpPr>
        <p:spPr>
          <a:xfrm>
            <a:off x="4453128" y="3639312"/>
            <a:ext cx="3931920" cy="676656"/>
          </a:xfrm>
          <a:prstGeom prst="rect">
            <a:avLst/>
          </a:prstGeom>
          <a:noFill/>
          <a:ln/>
        </p:spPr>
        <p:txBody>
          <a:bodyPr wrap="square" lIns="0" tIns="0" rIns="0" bIns="0" rtlCol="0" anchor="ctr"/>
          <a:lstStyle/>
          <a:p>
            <a:pPr indent="0" marL="0">
              <a:lnSpc>
                <a:spcPts val="1250"/>
              </a:lnSpc>
              <a:buNone/>
            </a:pPr>
            <a:r>
              <a:rPr lang="en-US" sz="1050" dirty="0">
                <a:solidFill>
                  <a:srgbClr val="FFFFFF"/>
                </a:solidFill>
                <a:latin typeface="Calibri" pitchFamily="34" charset="0"/>
                <a:ea typeface="Calibri" pitchFamily="34" charset="-122"/>
                <a:cs typeface="Calibri" pitchFamily="34" charset="-120"/>
              </a:rPr>
              <a:t>Placement accuracy 8.9% instead of 99.0% — all three aligners looking catastrophically broken.</a:t>
            </a:r>
            <a:endParaRPr lang="en-US" sz="1050" dirty="0"/>
          </a:p>
        </p:txBody>
      </p:sp>
      <p:sp>
        <p:nvSpPr>
          <p:cNvPr id="20" name="Text 18"/>
          <p:cNvSpPr/>
          <p:nvPr/>
        </p:nvSpPr>
        <p:spPr>
          <a:xfrm>
            <a:off x="8567928" y="3383280"/>
            <a:ext cx="2926080" cy="237744"/>
          </a:xfrm>
          <a:prstGeom prst="rect">
            <a:avLst/>
          </a:prstGeom>
          <a:noFill/>
          <a:ln/>
        </p:spPr>
        <p:txBody>
          <a:bodyPr wrap="square" lIns="0" tIns="0" rIns="0" bIns="0" rtlCol="0" anchor="ctr"/>
          <a:lstStyle/>
          <a:p>
            <a:pPr indent="0" marL="0">
              <a:buNone/>
            </a:pPr>
            <a:r>
              <a:rPr lang="en-US" sz="900" b="1" spc="100" kern="0" dirty="0">
                <a:solidFill>
                  <a:srgbClr val="3BC4A8"/>
                </a:solidFill>
                <a:latin typeface="Calibri" pitchFamily="34" charset="0"/>
                <a:ea typeface="Calibri" pitchFamily="34" charset="-122"/>
                <a:cs typeface="Calibri" pitchFamily="34" charset="-120"/>
              </a:rPr>
              <a:t>CAUGHT BY</a:t>
            </a:r>
            <a:endParaRPr lang="en-US" sz="900" dirty="0"/>
          </a:p>
        </p:txBody>
      </p:sp>
      <p:sp>
        <p:nvSpPr>
          <p:cNvPr id="21" name="Text 19"/>
          <p:cNvSpPr/>
          <p:nvPr/>
        </p:nvSpPr>
        <p:spPr>
          <a:xfrm>
            <a:off x="8567928" y="3639312"/>
            <a:ext cx="3017520" cy="676656"/>
          </a:xfrm>
          <a:prstGeom prst="rect">
            <a:avLst/>
          </a:prstGeom>
          <a:noFill/>
          <a:ln/>
        </p:spPr>
        <p:txBody>
          <a:bodyPr wrap="square" lIns="0" tIns="0" rIns="0" bIns="0" rtlCol="0" anchor="ctr"/>
          <a:lstStyle/>
          <a:p>
            <a:pPr indent="0" marL="0">
              <a:lnSpc>
                <a:spcPts val="1250"/>
              </a:lnSpc>
              <a:buNone/>
            </a:pPr>
            <a:r>
              <a:rPr lang="en-US" sz="1050" dirty="0">
                <a:solidFill>
                  <a:srgbClr val="BBD3D6"/>
                </a:solidFill>
                <a:latin typeface="Calibri" pitchFamily="34" charset="0"/>
                <a:ea typeface="Calibri" pitchFamily="34" charset="-122"/>
                <a:cs typeface="Calibri" pitchFamily="34" charset="-120"/>
              </a:rPr>
              <a:t>Converting coordinates, then self-validating against the simulator's own records</a:t>
            </a:r>
            <a:endParaRPr lang="en-US" sz="1050" dirty="0"/>
          </a:p>
        </p:txBody>
      </p:sp>
      <p:sp>
        <p:nvSpPr>
          <p:cNvPr id="22" name="Shape 20"/>
          <p:cNvSpPr/>
          <p:nvPr/>
        </p:nvSpPr>
        <p:spPr>
          <a:xfrm>
            <a:off x="566928" y="4535424"/>
            <a:ext cx="11055096" cy="1152144"/>
          </a:xfrm>
          <a:prstGeom prst="roundRect">
            <a:avLst>
              <a:gd name="adj" fmla="val 6349"/>
            </a:avLst>
          </a:prstGeom>
          <a:solidFill>
            <a:srgbClr val="12414C"/>
          </a:solidFill>
          <a:ln w="12700">
            <a:solidFill>
              <a:srgbClr val="12414C"/>
            </a:solidFill>
            <a:prstDash val="solid"/>
          </a:ln>
        </p:spPr>
      </p:sp>
      <p:sp>
        <p:nvSpPr>
          <p:cNvPr id="23" name="Shape 21"/>
          <p:cNvSpPr/>
          <p:nvPr/>
        </p:nvSpPr>
        <p:spPr>
          <a:xfrm>
            <a:off x="822960" y="4901184"/>
            <a:ext cx="420624" cy="420624"/>
          </a:xfrm>
          <a:prstGeom prst="ellipse">
            <a:avLst/>
          </a:prstGeom>
          <a:solidFill>
            <a:srgbClr val="E06C4F"/>
          </a:solidFill>
          <a:ln w="12700">
            <a:solidFill>
              <a:srgbClr val="E06C4F"/>
            </a:solidFill>
            <a:prstDash val="solid"/>
          </a:ln>
        </p:spPr>
      </p:sp>
      <p:sp>
        <p:nvSpPr>
          <p:cNvPr id="24" name="Text 22"/>
          <p:cNvSpPr/>
          <p:nvPr/>
        </p:nvSpPr>
        <p:spPr>
          <a:xfrm>
            <a:off x="822960" y="49011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p:nvPr/>
        </p:nvSpPr>
        <p:spPr>
          <a:xfrm>
            <a:off x="1408176" y="4681728"/>
            <a:ext cx="22860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Variant representation</a:t>
            </a:r>
            <a:endParaRPr lang="en-US" sz="1500" dirty="0"/>
          </a:p>
        </p:txBody>
      </p:sp>
      <p:sp>
        <p:nvSpPr>
          <p:cNvPr id="26" name="Text 24"/>
          <p:cNvSpPr/>
          <p:nvPr/>
        </p:nvSpPr>
        <p:spPr>
          <a:xfrm>
            <a:off x="1408176" y="5010912"/>
            <a:ext cx="2834640" cy="603504"/>
          </a:xfrm>
          <a:prstGeom prst="rect">
            <a:avLst/>
          </a:prstGeom>
          <a:noFill/>
          <a:ln/>
        </p:spPr>
        <p:txBody>
          <a:bodyPr wrap="square" lIns="0" tIns="0" rIns="0" bIns="0" rtlCol="0" anchor="ctr"/>
          <a:lstStyle/>
          <a:p>
            <a:pPr indent="0" marL="0">
              <a:lnSpc>
                <a:spcPts val="1250"/>
              </a:lnSpc>
              <a:buNone/>
            </a:pPr>
            <a:r>
              <a:rPr lang="en-US" sz="1050" dirty="0">
                <a:solidFill>
                  <a:srgbClr val="8FAEB3"/>
                </a:solidFill>
                <a:latin typeface="Calibri" pitchFamily="34" charset="0"/>
                <a:ea typeface="Calibri" pitchFamily="34" charset="-122"/>
                <a:cs typeface="Calibri" pitchFamily="34" charset="-120"/>
              </a:rPr>
              <a:t>FreeBayes merges nearby variants into one record: 215 AAA&gt;TAT is two SNPs.</a:t>
            </a:r>
            <a:endParaRPr lang="en-US" sz="1050" dirty="0"/>
          </a:p>
        </p:txBody>
      </p:sp>
      <p:sp>
        <p:nvSpPr>
          <p:cNvPr id="27" name="Text 25"/>
          <p:cNvSpPr/>
          <p:nvPr/>
        </p:nvSpPr>
        <p:spPr>
          <a:xfrm>
            <a:off x="4453128" y="4681728"/>
            <a:ext cx="3840480" cy="237744"/>
          </a:xfrm>
          <a:prstGeom prst="rect">
            <a:avLst/>
          </a:prstGeom>
          <a:noFill/>
          <a:ln/>
        </p:spPr>
        <p:txBody>
          <a:bodyPr wrap="square" lIns="0" tIns="0" rIns="0" bIns="0" rtlCol="0" anchor="ctr"/>
          <a:lstStyle/>
          <a:p>
            <a:pPr indent="0" marL="0">
              <a:buNone/>
            </a:pPr>
            <a:r>
              <a:rPr lang="en-US" sz="900" b="1" spc="100" kern="0" dirty="0">
                <a:solidFill>
                  <a:srgbClr val="E06C4F"/>
                </a:solidFill>
                <a:latin typeface="Calibri" pitchFamily="34" charset="0"/>
                <a:ea typeface="Calibri" pitchFamily="34" charset="-122"/>
                <a:cs typeface="Calibri" pitchFamily="34" charset="-120"/>
              </a:rPr>
              <a:t>WOULD HAVE SHOWN</a:t>
            </a:r>
            <a:endParaRPr lang="en-US" sz="900" dirty="0"/>
          </a:p>
        </p:txBody>
      </p:sp>
      <p:sp>
        <p:nvSpPr>
          <p:cNvPr id="28" name="Text 26"/>
          <p:cNvSpPr/>
          <p:nvPr/>
        </p:nvSpPr>
        <p:spPr>
          <a:xfrm>
            <a:off x="4453128" y="4937760"/>
            <a:ext cx="3931920" cy="676656"/>
          </a:xfrm>
          <a:prstGeom prst="rect">
            <a:avLst/>
          </a:prstGeom>
          <a:noFill/>
          <a:ln/>
        </p:spPr>
        <p:txBody>
          <a:bodyPr wrap="square" lIns="0" tIns="0" rIns="0" bIns="0" rtlCol="0" anchor="ctr"/>
          <a:lstStyle/>
          <a:p>
            <a:pPr indent="0" marL="0">
              <a:lnSpc>
                <a:spcPts val="1250"/>
              </a:lnSpc>
              <a:buNone/>
            </a:pPr>
            <a:r>
              <a:rPr lang="en-US" sz="1050" dirty="0">
                <a:solidFill>
                  <a:srgbClr val="FFFFFF"/>
                </a:solidFill>
                <a:latin typeface="Calibri" pitchFamily="34" charset="0"/>
                <a:ea typeface="Calibri" pitchFamily="34" charset="-122"/>
                <a:cs typeface="Calibri" pitchFamily="34" charset="-120"/>
              </a:rPr>
              <a:t>Splitting SNVs from indels before scoring silently discards those records and the variants inside them.</a:t>
            </a:r>
            <a:endParaRPr lang="en-US" sz="1050" dirty="0"/>
          </a:p>
        </p:txBody>
      </p:sp>
      <p:sp>
        <p:nvSpPr>
          <p:cNvPr id="29" name="Text 27"/>
          <p:cNvSpPr/>
          <p:nvPr/>
        </p:nvSpPr>
        <p:spPr>
          <a:xfrm>
            <a:off x="8567928" y="4681728"/>
            <a:ext cx="2926080" cy="237744"/>
          </a:xfrm>
          <a:prstGeom prst="rect">
            <a:avLst/>
          </a:prstGeom>
          <a:noFill/>
          <a:ln/>
        </p:spPr>
        <p:txBody>
          <a:bodyPr wrap="square" lIns="0" tIns="0" rIns="0" bIns="0" rtlCol="0" anchor="ctr"/>
          <a:lstStyle/>
          <a:p>
            <a:pPr indent="0" marL="0">
              <a:buNone/>
            </a:pPr>
            <a:r>
              <a:rPr lang="en-US" sz="900" b="1" spc="100" kern="0" dirty="0">
                <a:solidFill>
                  <a:srgbClr val="3BC4A8"/>
                </a:solidFill>
                <a:latin typeface="Calibri" pitchFamily="34" charset="0"/>
                <a:ea typeface="Calibri" pitchFamily="34" charset="-122"/>
                <a:cs typeface="Calibri" pitchFamily="34" charset="-120"/>
              </a:rPr>
              <a:t>CAUGHT BY</a:t>
            </a:r>
            <a:endParaRPr lang="en-US" sz="900" dirty="0"/>
          </a:p>
        </p:txBody>
      </p:sp>
      <p:sp>
        <p:nvSpPr>
          <p:cNvPr id="30" name="Text 28"/>
          <p:cNvSpPr/>
          <p:nvPr/>
        </p:nvSpPr>
        <p:spPr>
          <a:xfrm>
            <a:off x="8567928" y="4937760"/>
            <a:ext cx="3017520" cy="676656"/>
          </a:xfrm>
          <a:prstGeom prst="rect">
            <a:avLst/>
          </a:prstGeom>
          <a:noFill/>
          <a:ln/>
        </p:spPr>
        <p:txBody>
          <a:bodyPr wrap="square" lIns="0" tIns="0" rIns="0" bIns="0" rtlCol="0" anchor="ctr"/>
          <a:lstStyle/>
          <a:p>
            <a:pPr indent="0" marL="0">
              <a:lnSpc>
                <a:spcPts val="1250"/>
              </a:lnSpc>
              <a:buNone/>
            </a:pPr>
            <a:r>
              <a:rPr lang="en-US" sz="1050" dirty="0">
                <a:solidFill>
                  <a:srgbClr val="BBD3D6"/>
                </a:solidFill>
                <a:latin typeface="Calibri" pitchFamily="34" charset="0"/>
                <a:ea typeface="Calibri" pitchFamily="34" charset="-122"/>
                <a:cs typeface="Calibri" pitchFamily="34" charset="-120"/>
              </a:rPr>
              <a:t>Decomposing complex records first, applied identically to truth and calls</a:t>
            </a:r>
            <a:endParaRPr lang="en-US" sz="1050" dirty="0"/>
          </a:p>
        </p:txBody>
      </p:sp>
      <p:sp>
        <p:nvSpPr>
          <p:cNvPr id="31" name="Text 29"/>
          <p:cNvSpPr/>
          <p:nvPr/>
        </p:nvSpPr>
        <p:spPr>
          <a:xfrm>
            <a:off x="566928" y="5943600"/>
            <a:ext cx="11055096" cy="457200"/>
          </a:xfrm>
          <a:prstGeom prst="rect">
            <a:avLst/>
          </a:prstGeom>
          <a:noFill/>
          <a:ln/>
        </p:spPr>
        <p:txBody>
          <a:bodyPr wrap="square" lIns="0" tIns="0" rIns="0" bIns="0" rtlCol="0" anchor="ctr"/>
          <a:lstStyle/>
          <a:p>
            <a:pPr indent="0" marL="0">
              <a:buNone/>
            </a:pPr>
            <a:r>
              <a:rPr lang="en-US" sz="1450" b="1" i="1" dirty="0">
                <a:solidFill>
                  <a:srgbClr val="3BC4A8"/>
                </a:solidFill>
                <a:latin typeface="Calibri" pitchFamily="34" charset="0"/>
                <a:ea typeface="Calibri" pitchFamily="34" charset="-122"/>
                <a:cs typeface="Calibri" pitchFamily="34" charset="-120"/>
              </a:rPr>
              <a:t>Every one of these fails silently. None produces an error message. Each produces plausible-looking numbers that are wrong.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VERIFICATION</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A perfect score is only believable if the scoring can fail</a:t>
            </a:r>
            <a:endParaRPr lang="en-US" sz="3400" dirty="0"/>
          </a:p>
        </p:txBody>
      </p:sp>
      <p:sp>
        <p:nvSpPr>
          <p:cNvPr id="4" name="Text 2"/>
          <p:cNvSpPr/>
          <p:nvPr/>
        </p:nvSpPr>
        <p:spPr>
          <a:xfrm>
            <a:off x="566928" y="1554480"/>
            <a:ext cx="5943600" cy="292608"/>
          </a:xfrm>
          <a:prstGeom prst="rect">
            <a:avLst/>
          </a:prstGeom>
          <a:noFill/>
          <a:ln/>
        </p:spPr>
        <p:txBody>
          <a:bodyPr wrap="square" lIns="0" tIns="0" rIns="0" bIns="0" rtlCol="0" anchor="ctr"/>
          <a:lstStyle/>
          <a:p>
            <a:pPr indent="0" marL="0">
              <a:buNone/>
            </a:pPr>
            <a:r>
              <a:rPr lang="en-US" sz="1400" b="1" dirty="0">
                <a:solidFill>
                  <a:srgbClr val="0B2E36"/>
                </a:solidFill>
                <a:latin typeface="Calibri" pitchFamily="34" charset="0"/>
                <a:ea typeface="Calibri" pitchFamily="34" charset="-122"/>
                <a:cs typeface="Calibri" pitchFamily="34" charset="-120"/>
              </a:rPr>
              <a:t>Negative control — deliberately corrupt the call set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5852160" cy="914400"/>
        </p:xfrm>
        <a:graphic>
          <a:graphicData uri="http://schemas.openxmlformats.org/drawingml/2006/table">
            <a:tbl>
              <a:tblPr/>
              <a:tblGrid>
                <a:gridCol w="4023360"/>
                <a:gridCol w="1828800"/>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Call set</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B2E3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0B2E36"/>
                    </a:solidFill>
                  </a:tcPr>
                </a:tc>
              </a:tr>
              <a:tr h="402336">
                <a:tc>
                  <a:txBody>
                    <a:bodyPr/>
                    <a:lstStyle/>
                    <a:p>
                      <a:pPr algn="l" indent="0" marL="0">
                        <a:buNone/>
                      </a:pPr>
                      <a:r>
                        <a:rPr lang="en-US" sz="1300" dirty="0">
                          <a:solidFill>
                            <a:srgbClr val="0B2E36"/>
                          </a:solidFill>
                          <a:latin typeface="Calibri" pitchFamily="34" charset="0"/>
                          <a:ea typeface="Calibri" pitchFamily="34" charset="-122"/>
                          <a:cs typeface="Calibri" pitchFamily="34" charset="-120"/>
                        </a:rPr>
                        <a:t>Unmodified</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0B2E36"/>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r>
              <a:tr h="402336">
                <a:tc>
                  <a:txBody>
                    <a:bodyPr/>
                    <a:lstStyle/>
                    <a:p>
                      <a:pPr algn="l" indent="0" marL="0">
                        <a:buNone/>
                      </a:pPr>
                      <a:r>
                        <a:rPr lang="en-US" sz="1300" dirty="0">
                          <a:solidFill>
                            <a:srgbClr val="E06C4F"/>
                          </a:solidFill>
                          <a:latin typeface="Calibri" pitchFamily="34" charset="0"/>
                          <a:ea typeface="Calibri" pitchFamily="34" charset="-122"/>
                          <a:cs typeface="Calibri" pitchFamily="34" charset="-120"/>
                        </a:rPr>
                        <a:t>All positions shifted +5 bp</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E06C4F"/>
                          </a:solidFill>
                          <a:latin typeface="Calibri" pitchFamily="34" charset="0"/>
                          <a:ea typeface="Calibri" pitchFamily="34" charset="-122"/>
                          <a:cs typeface="Calibri" pitchFamily="34" charset="-120"/>
                        </a:rPr>
                        <a:t>0.0000</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E06C4F"/>
                          </a:solidFill>
                          <a:latin typeface="Calibri" pitchFamily="34" charset="0"/>
                          <a:ea typeface="Calibri" pitchFamily="34" charset="-122"/>
                          <a:cs typeface="Calibri" pitchFamily="34" charset="-120"/>
                        </a:rPr>
                        <a:t>Every SNV allele changed</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c>
                  <a:txBody>
                    <a:bodyPr/>
                    <a:lstStyle/>
                    <a:p>
                      <a:pPr algn="ctr" indent="0" marL="0">
                        <a:buNone/>
                      </a:pPr>
                      <a:r>
                        <a:rPr lang="en-US" sz="1300" dirty="0">
                          <a:solidFill>
                            <a:srgbClr val="E06C4F"/>
                          </a:solidFill>
                          <a:latin typeface="Calibri" pitchFamily="34" charset="0"/>
                          <a:ea typeface="Calibri" pitchFamily="34" charset="-122"/>
                          <a:cs typeface="Calibri" pitchFamily="34" charset="-120"/>
                        </a:rPr>
                        <a:t>0.1667</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EDF4F5"/>
                    </a:solidFill>
                  </a:tcPr>
                </a:tc>
              </a:tr>
              <a:tr h="402336">
                <a:tc>
                  <a:txBody>
                    <a:bodyPr/>
                    <a:lstStyle/>
                    <a:p>
                      <a:pPr algn="l" indent="0" marL="0">
                        <a:buNone/>
                      </a:pPr>
                      <a:r>
                        <a:rPr lang="en-US" sz="1300" dirty="0">
                          <a:solidFill>
                            <a:srgbClr val="E06C4F"/>
                          </a:solidFill>
                          <a:latin typeface="Calibri" pitchFamily="34" charset="0"/>
                          <a:ea typeface="Calibri" pitchFamily="34" charset="-122"/>
                          <a:cs typeface="Calibri" pitchFamily="34" charset="-120"/>
                        </a:rPr>
                        <a:t>Half the calls removed</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E06C4F"/>
                          </a:solidFill>
                          <a:latin typeface="Calibri" pitchFamily="34" charset="0"/>
                          <a:ea typeface="Calibri" pitchFamily="34" charset="-122"/>
                          <a:cs typeface="Calibri" pitchFamily="34" charset="-120"/>
                        </a:rPr>
                        <a:t>0.6667</a:t>
                      </a:r>
                      <a:endParaRPr lang="en-US" sz="1300" dirty="0">
                        <a:latin typeface="Calibri" charset="0"/>
                        <a:ea typeface="Calibri" charset="0"/>
                        <a:cs typeface="Calibri" charset="0"/>
                      </a:endParaRPr>
                    </a:p>
                  </a:txBody>
                  <a:tcPr marL="91440" marR="91440" marT="45720" marB="4572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4114800"/>
            <a:ext cx="5852160" cy="868680"/>
          </a:xfrm>
          <a:prstGeom prst="rect">
            <a:avLst/>
          </a:prstGeom>
          <a:noFill/>
          <a:ln/>
        </p:spPr>
        <p:txBody>
          <a:bodyPr wrap="square" lIns="0" tIns="0" rIns="0" bIns="0" rtlCol="0" anchor="ctr"/>
          <a:lstStyle/>
          <a:p>
            <a:pPr indent="0" marL="0">
              <a:lnSpc>
                <a:spcPts val="1600"/>
              </a:lnSpc>
              <a:buNone/>
            </a:pPr>
            <a:r>
              <a:rPr lang="en-US" sz="1250" dirty="0">
                <a:solidFill>
                  <a:srgbClr val="5C7278"/>
                </a:solidFill>
                <a:latin typeface="Calibri" pitchFamily="34" charset="0"/>
                <a:ea typeface="Calibri" pitchFamily="34" charset="-122"/>
                <a:cs typeface="Calibri" pitchFamily="34" charset="-120"/>
              </a:rPr>
              <a:t>Shifting every call by 5 bp collapses F1 to zero. Removing half the calls gives recall of exactly 0.500. The scoring discriminates — so 1.0 on phiX is a real result about an easy genome.</a:t>
            </a:r>
            <a:endParaRPr lang="en-US" sz="1250" dirty="0"/>
          </a:p>
        </p:txBody>
      </p:sp>
      <p:sp>
        <p:nvSpPr>
          <p:cNvPr id="7" name="Shape 4"/>
          <p:cNvSpPr/>
          <p:nvPr/>
        </p:nvSpPr>
        <p:spPr>
          <a:xfrm>
            <a:off x="6766560" y="1554480"/>
            <a:ext cx="4864608" cy="1298448"/>
          </a:xfrm>
          <a:prstGeom prst="roundRect">
            <a:avLst>
              <a:gd name="adj" fmla="val 5634"/>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8" name="Text 5"/>
          <p:cNvSpPr/>
          <p:nvPr/>
        </p:nvSpPr>
        <p:spPr>
          <a:xfrm>
            <a:off x="7040880" y="1682496"/>
            <a:ext cx="4297680" cy="384048"/>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+14 / +187 bp</a:t>
            </a:r>
            <a:endParaRPr lang="en-US" sz="2000" dirty="0"/>
          </a:p>
        </p:txBody>
      </p:sp>
      <p:sp>
        <p:nvSpPr>
          <p:cNvPr id="9" name="Text 6"/>
          <p:cNvSpPr/>
          <p:nvPr/>
        </p:nvSpPr>
        <p:spPr>
          <a:xfrm>
            <a:off x="7040880" y="2066544"/>
            <a:ext cx="4297680" cy="256032"/>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Truth-set integrity</a:t>
            </a:r>
            <a:endParaRPr lang="en-US" sz="1250" dirty="0"/>
          </a:p>
        </p:txBody>
      </p:sp>
      <p:sp>
        <p:nvSpPr>
          <p:cNvPr id="10" name="Text 7"/>
          <p:cNvSpPr/>
          <p:nvPr/>
        </p:nvSpPr>
        <p:spPr>
          <a:xfrm>
            <a:off x="7040880" y="2322576"/>
            <a:ext cx="4343400" cy="457200"/>
          </a:xfrm>
          <a:prstGeom prst="rect">
            <a:avLst/>
          </a:prstGeom>
          <a:noFill/>
          <a:ln/>
        </p:spPr>
        <p:txBody>
          <a:bodyPr wrap="square" lIns="0" tIns="0" rIns="0" bIns="0" rtlCol="0" anchor="ctr"/>
          <a:lstStyle/>
          <a:p>
            <a:pPr indent="0" marL="0">
              <a:lnSpc>
                <a:spcPts val="1250"/>
              </a:lnSpc>
              <a:buNone/>
            </a:pPr>
            <a:r>
              <a:rPr lang="en-US" sz="1050" dirty="0">
                <a:solidFill>
                  <a:srgbClr val="5C7278"/>
                </a:solidFill>
                <a:latin typeface="Calibri" pitchFamily="34" charset="0"/>
                <a:ea typeface="Calibri" pitchFamily="34" charset="-122"/>
                <a:cs typeface="Calibri" pitchFamily="34" charset="-120"/>
              </a:rPr>
              <a:t>Net length change of all injected indels matches the mutated genome's actual size difference exactly.</a:t>
            </a:r>
            <a:endParaRPr lang="en-US" sz="1050" dirty="0"/>
          </a:p>
        </p:txBody>
      </p:sp>
      <p:sp>
        <p:nvSpPr>
          <p:cNvPr id="11" name="Shape 8"/>
          <p:cNvSpPr/>
          <p:nvPr/>
        </p:nvSpPr>
        <p:spPr>
          <a:xfrm>
            <a:off x="6766560" y="3035808"/>
            <a:ext cx="4864608" cy="1298448"/>
          </a:xfrm>
          <a:prstGeom prst="roundRect">
            <a:avLst>
              <a:gd name="adj" fmla="val 5634"/>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2" name="Text 9"/>
          <p:cNvSpPr/>
          <p:nvPr/>
        </p:nvSpPr>
        <p:spPr>
          <a:xfrm>
            <a:off x="7040880" y="3163824"/>
            <a:ext cx="4297680" cy="384048"/>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83 checks</a:t>
            </a:r>
            <a:endParaRPr lang="en-US" sz="2000" dirty="0"/>
          </a:p>
        </p:txBody>
      </p:sp>
      <p:sp>
        <p:nvSpPr>
          <p:cNvPr id="13" name="Text 10"/>
          <p:cNvSpPr/>
          <p:nvPr/>
        </p:nvSpPr>
        <p:spPr>
          <a:xfrm>
            <a:off x="7040880" y="3547872"/>
            <a:ext cx="4297680" cy="256032"/>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Automated audit</a:t>
            </a:r>
            <a:endParaRPr lang="en-US" sz="1250" dirty="0"/>
          </a:p>
        </p:txBody>
      </p:sp>
      <p:sp>
        <p:nvSpPr>
          <p:cNvPr id="14" name="Text 11"/>
          <p:cNvSpPr/>
          <p:nvPr/>
        </p:nvSpPr>
        <p:spPr>
          <a:xfrm>
            <a:off x="7040880" y="3803904"/>
            <a:ext cx="4343400" cy="457200"/>
          </a:xfrm>
          <a:prstGeom prst="rect">
            <a:avLst/>
          </a:prstGeom>
          <a:noFill/>
          <a:ln/>
        </p:spPr>
        <p:txBody>
          <a:bodyPr wrap="square" lIns="0" tIns="0" rIns="0" bIns="0" rtlCol="0" anchor="ctr"/>
          <a:lstStyle/>
          <a:p>
            <a:pPr indent="0" marL="0">
              <a:lnSpc>
                <a:spcPts val="1250"/>
              </a:lnSpc>
              <a:buNone/>
            </a:pPr>
            <a:r>
              <a:rPr lang="en-US" sz="1050" dirty="0">
                <a:solidFill>
                  <a:srgbClr val="5C7278"/>
                </a:solidFill>
                <a:latin typeface="Calibri" pitchFamily="34" charset="0"/>
                <a:ea typeface="Calibri" pitchFamily="34" charset="-122"/>
                <a:cs typeface="Calibri" pitchFamily="34" charset="-120"/>
              </a:rPr>
              <a:t>Re-derived from the data — lengths from the index, genotypes re-grepped — not just checking files exist.</a:t>
            </a:r>
            <a:endParaRPr lang="en-US" sz="1050" dirty="0"/>
          </a:p>
        </p:txBody>
      </p:sp>
      <p:sp>
        <p:nvSpPr>
          <p:cNvPr id="15" name="Shape 12"/>
          <p:cNvSpPr/>
          <p:nvPr/>
        </p:nvSpPr>
        <p:spPr>
          <a:xfrm>
            <a:off x="6766560" y="4517136"/>
            <a:ext cx="4864608" cy="1298448"/>
          </a:xfrm>
          <a:prstGeom prst="roundRect">
            <a:avLst>
              <a:gd name="adj" fmla="val 5634"/>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6" name="Text 13"/>
          <p:cNvSpPr/>
          <p:nvPr/>
        </p:nvSpPr>
        <p:spPr>
          <a:xfrm>
            <a:off x="7040880" y="4645152"/>
            <a:ext cx="4297680" cy="384048"/>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2 implementations</a:t>
            </a:r>
            <a:endParaRPr lang="en-US" sz="2000" dirty="0"/>
          </a:p>
        </p:txBody>
      </p:sp>
      <p:sp>
        <p:nvSpPr>
          <p:cNvPr id="17" name="Text 14"/>
          <p:cNvSpPr/>
          <p:nvPr/>
        </p:nvSpPr>
        <p:spPr>
          <a:xfrm>
            <a:off x="7040880" y="5029200"/>
            <a:ext cx="4297680" cy="256032"/>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Independent agreement</a:t>
            </a:r>
            <a:endParaRPr lang="en-US" sz="1250" dirty="0"/>
          </a:p>
        </p:txBody>
      </p:sp>
      <p:sp>
        <p:nvSpPr>
          <p:cNvPr id="18" name="Text 15"/>
          <p:cNvSpPr/>
          <p:nvPr/>
        </p:nvSpPr>
        <p:spPr>
          <a:xfrm>
            <a:off x="7040880" y="5285232"/>
            <a:ext cx="4343400" cy="457200"/>
          </a:xfrm>
          <a:prstGeom prst="rect">
            <a:avLst/>
          </a:prstGeom>
          <a:noFill/>
          <a:ln/>
        </p:spPr>
        <p:txBody>
          <a:bodyPr wrap="square" lIns="0" tIns="0" rIns="0" bIns="0" rtlCol="0" anchor="ctr"/>
          <a:lstStyle/>
          <a:p>
            <a:pPr indent="0" marL="0">
              <a:lnSpc>
                <a:spcPts val="1250"/>
              </a:lnSpc>
              <a:buNone/>
            </a:pPr>
            <a:r>
              <a:rPr lang="en-US" sz="1050" dirty="0">
                <a:solidFill>
                  <a:srgbClr val="5C7278"/>
                </a:solidFill>
                <a:latin typeface="Calibri" pitchFamily="34" charset="0"/>
                <a:ea typeface="Calibri" pitchFamily="34" charset="-122"/>
                <a:cs typeface="Calibri" pitchFamily="34" charset="-120"/>
              </a:rPr>
              <a:t>Shell scripts and the Snakemake workflow produce identical results.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37744"/>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NEXT PHASE</a:t>
            </a:r>
            <a:endParaRPr lang="en-US" sz="1200" dirty="0"/>
          </a:p>
        </p:txBody>
      </p:sp>
      <p:sp>
        <p:nvSpPr>
          <p:cNvPr id="3" name="Text 1"/>
          <p:cNvSpPr/>
          <p:nvPr/>
        </p:nvSpPr>
        <p:spPr>
          <a:xfrm>
            <a:off x="566928" y="603504"/>
            <a:ext cx="11055096" cy="640080"/>
          </a:xfrm>
          <a:prstGeom prst="rect">
            <a:avLst/>
          </a:prstGeom>
          <a:noFill/>
          <a:ln/>
        </p:spPr>
        <p:txBody>
          <a:bodyPr wrap="square" lIns="0" tIns="0" rIns="0" bIns="0" rtlCol="0" anchor="ctr"/>
          <a:lstStyle/>
          <a:p>
            <a:pPr indent="0" marL="0">
              <a:buNone/>
            </a:pPr>
            <a:r>
              <a:rPr lang="en-US" sz="3400" b="1" dirty="0">
                <a:solidFill>
                  <a:srgbClr val="0B2E36"/>
                </a:solidFill>
                <a:latin typeface="Cambria" pitchFamily="34" charset="0"/>
                <a:ea typeface="Cambria" pitchFamily="34" charset="-122"/>
                <a:cs typeface="Cambria" pitchFamily="34" charset="-120"/>
              </a:rPr>
              <a:t>The sweep, then the model</a:t>
            </a:r>
            <a:endParaRPr lang="en-US" sz="3400" dirty="0"/>
          </a:p>
        </p:txBody>
      </p:sp>
      <p:sp>
        <p:nvSpPr>
          <p:cNvPr id="4" name="Shape 2"/>
          <p:cNvSpPr/>
          <p:nvPr/>
        </p:nvSpPr>
        <p:spPr>
          <a:xfrm flipV="1">
            <a:off x="3200400" y="1828800"/>
            <a:ext cx="9144" cy="1645920"/>
          </a:xfrm>
          <a:prstGeom prst="line">
            <a:avLst/>
          </a:prstGeom>
          <a:noFill/>
          <a:ln w="25400">
            <a:solidFill>
              <a:srgbClr val="3BC4A8"/>
            </a:solidFill>
            <a:prstDash val="solid"/>
          </a:ln>
        </p:spPr>
      </p:sp>
      <p:sp>
        <p:nvSpPr>
          <p:cNvPr id="5" name="Shape 3"/>
          <p:cNvSpPr/>
          <p:nvPr/>
        </p:nvSpPr>
        <p:spPr>
          <a:xfrm flipH="1">
            <a:off x="1508760" y="3474720"/>
            <a:ext cx="1691640" cy="1280160"/>
          </a:xfrm>
          <a:prstGeom prst="line">
            <a:avLst/>
          </a:prstGeom>
          <a:noFill/>
          <a:ln w="25400">
            <a:solidFill>
              <a:srgbClr val="E8A33D"/>
            </a:solidFill>
            <a:prstDash val="solid"/>
          </a:ln>
        </p:spPr>
      </p:sp>
      <p:sp>
        <p:nvSpPr>
          <p:cNvPr id="6" name="Shape 4"/>
          <p:cNvSpPr/>
          <p:nvPr/>
        </p:nvSpPr>
        <p:spPr>
          <a:xfrm>
            <a:off x="3200400" y="3474720"/>
            <a:ext cx="1691640" cy="1280160"/>
          </a:xfrm>
          <a:prstGeom prst="line">
            <a:avLst/>
          </a:prstGeom>
          <a:noFill/>
          <a:ln w="25400">
            <a:solidFill>
              <a:srgbClr val="E06C4F"/>
            </a:solidFill>
            <a:prstDash val="solid"/>
          </a:ln>
        </p:spPr>
      </p:sp>
      <p:sp>
        <p:nvSpPr>
          <p:cNvPr id="7" name="Shape 5"/>
          <p:cNvSpPr/>
          <p:nvPr/>
        </p:nvSpPr>
        <p:spPr>
          <a:xfrm>
            <a:off x="2542032" y="2816352"/>
            <a:ext cx="1316736" cy="1316736"/>
          </a:xfrm>
          <a:prstGeom prst="ellipse">
            <a:avLst/>
          </a:prstGeom>
          <a:solidFill>
            <a:srgbClr val="0E7C86"/>
          </a:solidFill>
          <a:ln w="12700">
            <a:solidFill>
              <a:srgbClr val="0E7C86"/>
            </a:solidFill>
            <a:prstDash val="solid"/>
          </a:ln>
          <a:effectLst>
            <a:outerShdw sx="100000" sy="100000" kx="0" ky="0" algn="bl" rotWithShape="0" blurRad="127000" dist="25400" dir="5400000">
              <a:srgbClr val="0B2E36">
                <a:alpha val="12000"/>
              </a:srgbClr>
            </a:outerShdw>
          </a:effectLst>
        </p:spPr>
      </p:sp>
      <p:sp>
        <p:nvSpPr>
          <p:cNvPr id="8" name="Text 6"/>
          <p:cNvSpPr/>
          <p:nvPr/>
        </p:nvSpPr>
        <p:spPr>
          <a:xfrm>
            <a:off x="2542032" y="2816352"/>
            <a:ext cx="1316736" cy="13167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BASELINE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30× · 150 bp</a:t>
            </a:r>
            <a:endParaRPr lang="en-US" sz="1050" dirty="0"/>
          </a:p>
        </p:txBody>
      </p:sp>
      <p:sp>
        <p:nvSpPr>
          <p:cNvPr id="9" name="Shape 7"/>
          <p:cNvSpPr/>
          <p:nvPr/>
        </p:nvSpPr>
        <p:spPr>
          <a:xfrm>
            <a:off x="2400300" y="1517904"/>
            <a:ext cx="1600200" cy="621792"/>
          </a:xfrm>
          <a:prstGeom prst="roundRect">
            <a:avLst>
              <a:gd name="adj" fmla="val 11765"/>
            </a:avLst>
          </a:prstGeom>
          <a:solidFill>
            <a:srgbClr val="3BC4A8"/>
          </a:solidFill>
          <a:ln w="12700">
            <a:solidFill>
              <a:srgbClr val="3BC4A8"/>
            </a:solidFill>
            <a:prstDash val="solid"/>
          </a:ln>
        </p:spPr>
      </p:sp>
      <p:sp>
        <p:nvSpPr>
          <p:cNvPr id="10" name="Text 8"/>
          <p:cNvSpPr/>
          <p:nvPr/>
        </p:nvSpPr>
        <p:spPr>
          <a:xfrm>
            <a:off x="2400300" y="1572768"/>
            <a:ext cx="1600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Coverage</a:t>
            </a:r>
            <a:endParaRPr lang="en-US" sz="1200" dirty="0"/>
          </a:p>
        </p:txBody>
      </p:sp>
      <p:sp>
        <p:nvSpPr>
          <p:cNvPr id="11" name="Text 9"/>
          <p:cNvSpPr/>
          <p:nvPr/>
        </p:nvSpPr>
        <p:spPr>
          <a:xfrm>
            <a:off x="2400300" y="1828800"/>
            <a:ext cx="160020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 · 10 · 20 · 50 · 100×</a:t>
            </a:r>
            <a:endParaRPr lang="en-US" sz="950" dirty="0"/>
          </a:p>
        </p:txBody>
      </p:sp>
      <p:sp>
        <p:nvSpPr>
          <p:cNvPr id="12" name="Shape 10"/>
          <p:cNvSpPr/>
          <p:nvPr/>
        </p:nvSpPr>
        <p:spPr>
          <a:xfrm>
            <a:off x="708660" y="4443984"/>
            <a:ext cx="1600200" cy="621792"/>
          </a:xfrm>
          <a:prstGeom prst="roundRect">
            <a:avLst>
              <a:gd name="adj" fmla="val 11765"/>
            </a:avLst>
          </a:prstGeom>
          <a:solidFill>
            <a:srgbClr val="E8A33D"/>
          </a:solidFill>
          <a:ln w="12700">
            <a:solidFill>
              <a:srgbClr val="E8A33D"/>
            </a:solidFill>
            <a:prstDash val="solid"/>
          </a:ln>
        </p:spPr>
      </p:sp>
      <p:sp>
        <p:nvSpPr>
          <p:cNvPr id="13" name="Text 11"/>
          <p:cNvSpPr/>
          <p:nvPr/>
        </p:nvSpPr>
        <p:spPr>
          <a:xfrm>
            <a:off x="708660" y="4498848"/>
            <a:ext cx="1600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 length</a:t>
            </a:r>
            <a:endParaRPr lang="en-US" sz="1200" dirty="0"/>
          </a:p>
        </p:txBody>
      </p:sp>
      <p:sp>
        <p:nvSpPr>
          <p:cNvPr id="14" name="Text 12"/>
          <p:cNvSpPr/>
          <p:nvPr/>
        </p:nvSpPr>
        <p:spPr>
          <a:xfrm>
            <a:off x="708660" y="4754880"/>
            <a:ext cx="160020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75 · 100 bp</a:t>
            </a:r>
            <a:endParaRPr lang="en-US" sz="950" dirty="0"/>
          </a:p>
        </p:txBody>
      </p:sp>
      <p:sp>
        <p:nvSpPr>
          <p:cNvPr id="15" name="Shape 13"/>
          <p:cNvSpPr/>
          <p:nvPr/>
        </p:nvSpPr>
        <p:spPr>
          <a:xfrm>
            <a:off x="4091940" y="4443984"/>
            <a:ext cx="1600200" cy="621792"/>
          </a:xfrm>
          <a:prstGeom prst="roundRect">
            <a:avLst>
              <a:gd name="adj" fmla="val 11765"/>
            </a:avLst>
          </a:prstGeom>
          <a:solidFill>
            <a:srgbClr val="E06C4F"/>
          </a:solidFill>
          <a:ln w="12700">
            <a:solidFill>
              <a:srgbClr val="E06C4F"/>
            </a:solidFill>
            <a:prstDash val="solid"/>
          </a:ln>
        </p:spPr>
      </p:sp>
      <p:sp>
        <p:nvSpPr>
          <p:cNvPr id="16" name="Text 14"/>
          <p:cNvSpPr/>
          <p:nvPr/>
        </p:nvSpPr>
        <p:spPr>
          <a:xfrm>
            <a:off x="4091940" y="4498848"/>
            <a:ext cx="160020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Error rate</a:t>
            </a:r>
            <a:endParaRPr lang="en-US" sz="1200" dirty="0"/>
          </a:p>
        </p:txBody>
      </p:sp>
      <p:sp>
        <p:nvSpPr>
          <p:cNvPr id="17" name="Text 15"/>
          <p:cNvSpPr/>
          <p:nvPr/>
        </p:nvSpPr>
        <p:spPr>
          <a:xfrm>
            <a:off x="4091940" y="4754880"/>
            <a:ext cx="160020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−2 · −5 · −10 shift</a:t>
            </a:r>
            <a:endParaRPr lang="en-US" sz="950" dirty="0"/>
          </a:p>
        </p:txBody>
      </p:sp>
      <p:sp>
        <p:nvSpPr>
          <p:cNvPr id="18" name="Shape 16"/>
          <p:cNvSpPr/>
          <p:nvPr/>
        </p:nvSpPr>
        <p:spPr>
          <a:xfrm>
            <a:off x="5989320" y="1627632"/>
            <a:ext cx="5641848" cy="1280160"/>
          </a:xfrm>
          <a:prstGeom prst="roundRect">
            <a:avLst>
              <a:gd name="adj" fmla="val 5714"/>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19" name="Text 17"/>
          <p:cNvSpPr/>
          <p:nvPr/>
        </p:nvSpPr>
        <p:spPr>
          <a:xfrm>
            <a:off x="6263640" y="1773936"/>
            <a:ext cx="5120640" cy="310896"/>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11 conditions × 5 seeds × 2 genomes × 9 pipelines</a:t>
            </a:r>
            <a:endParaRPr lang="en-US" sz="1250" dirty="0"/>
          </a:p>
        </p:txBody>
      </p:sp>
      <p:sp>
        <p:nvSpPr>
          <p:cNvPr id="20" name="Text 18"/>
          <p:cNvSpPr/>
          <p:nvPr/>
        </p:nvSpPr>
        <p:spPr>
          <a:xfrm>
            <a:off x="6263640" y="2103120"/>
            <a:ext cx="5120640" cy="713232"/>
          </a:xfrm>
          <a:prstGeom prst="rect">
            <a:avLst/>
          </a:prstGeom>
          <a:noFill/>
          <a:ln/>
        </p:spPr>
        <p:txBody>
          <a:bodyPr wrap="square" lIns="0" tIns="0" rIns="0" bIns="0" rtlCol="0" anchor="ctr"/>
          <a:lstStyle/>
          <a:p>
            <a:pPr indent="0" marL="0">
              <a:lnSpc>
                <a:spcPts val="1350"/>
              </a:lnSpc>
              <a:buNone/>
            </a:pPr>
            <a:r>
              <a:rPr lang="en-US" sz="1100" dirty="0">
                <a:solidFill>
                  <a:srgbClr val="5C7278"/>
                </a:solidFill>
                <a:latin typeface="Calibri" pitchFamily="34" charset="0"/>
                <a:ea typeface="Calibri" pitchFamily="34" charset="-122"/>
                <a:cs typeface="Calibri" pitchFamily="34" charset="-120"/>
              </a:rPr>
              <a:t>990 pipeline runs — the DAG already resolves for all of them</a:t>
            </a:r>
            <a:endParaRPr lang="en-US" sz="1100" dirty="0"/>
          </a:p>
        </p:txBody>
      </p:sp>
      <p:sp>
        <p:nvSpPr>
          <p:cNvPr id="21" name="Shape 19"/>
          <p:cNvSpPr/>
          <p:nvPr/>
        </p:nvSpPr>
        <p:spPr>
          <a:xfrm>
            <a:off x="5989320" y="3090672"/>
            <a:ext cx="5641848" cy="1280160"/>
          </a:xfrm>
          <a:prstGeom prst="roundRect">
            <a:avLst>
              <a:gd name="adj" fmla="val 5714"/>
            </a:avLst>
          </a:prstGeom>
          <a:solidFill>
            <a:srgbClr val="EDF4F5"/>
          </a:solidFill>
          <a:ln w="12700">
            <a:solidFill>
              <a:srgbClr val="EDF4F5"/>
            </a:solidFill>
            <a:prstDash val="solid"/>
          </a:ln>
          <a:effectLst>
            <a:outerShdw sx="100000" sy="100000" kx="0" ky="0" algn="bl" rotWithShape="0" blurRad="127000" dist="25400" dir="5400000">
              <a:srgbClr val="0B2E36">
                <a:alpha val="12000"/>
              </a:srgbClr>
            </a:outerShdw>
          </a:effectLst>
        </p:spPr>
      </p:sp>
      <p:sp>
        <p:nvSpPr>
          <p:cNvPr id="22" name="Text 20"/>
          <p:cNvSpPr/>
          <p:nvPr/>
        </p:nvSpPr>
        <p:spPr>
          <a:xfrm>
            <a:off x="6263640" y="3236976"/>
            <a:ext cx="5120640" cy="310896"/>
          </a:xfrm>
          <a:prstGeom prst="rect">
            <a:avLst/>
          </a:prstGeom>
          <a:noFill/>
          <a:ln/>
        </p:spPr>
        <p:txBody>
          <a:bodyPr wrap="square" lIns="0" tIns="0" rIns="0" bIns="0" rtlCol="0" anchor="ctr"/>
          <a:lstStyle/>
          <a:p>
            <a:pPr indent="0" marL="0">
              <a:buNone/>
            </a:pPr>
            <a:r>
              <a:rPr lang="en-US" sz="1250" b="1" dirty="0">
                <a:solidFill>
                  <a:srgbClr val="0B2E36"/>
                </a:solidFill>
                <a:latin typeface="Calibri" pitchFamily="34" charset="0"/>
                <a:ea typeface="Calibri" pitchFamily="34" charset="-122"/>
                <a:cs typeface="Calibri" pitchFamily="34" charset="-120"/>
              </a:rPr>
              <a:t>Where the differences should appear</a:t>
            </a:r>
            <a:endParaRPr lang="en-US" sz="1250" dirty="0"/>
          </a:p>
        </p:txBody>
      </p:sp>
      <p:sp>
        <p:nvSpPr>
          <p:cNvPr id="23" name="Text 21"/>
          <p:cNvSpPr/>
          <p:nvPr/>
        </p:nvSpPr>
        <p:spPr>
          <a:xfrm>
            <a:off x="6263640" y="3566160"/>
            <a:ext cx="5120640" cy="713232"/>
          </a:xfrm>
          <a:prstGeom prst="rect">
            <a:avLst/>
          </a:prstGeom>
          <a:noFill/>
          <a:ln/>
        </p:spPr>
        <p:txBody>
          <a:bodyPr wrap="square" lIns="0" tIns="0" rIns="0" bIns="0" rtlCol="0" anchor="ctr"/>
          <a:lstStyle/>
          <a:p>
            <a:pPr indent="0" marL="0">
              <a:lnSpc>
                <a:spcPts val="1350"/>
              </a:lnSpc>
              <a:buNone/>
            </a:pPr>
            <a:r>
              <a:rPr lang="en-US" sz="1100" dirty="0">
                <a:solidFill>
                  <a:srgbClr val="5C7278"/>
                </a:solidFill>
                <a:latin typeface="Calibri" pitchFamily="34" charset="0"/>
                <a:ea typeface="Calibri" pitchFamily="34" charset="-122"/>
                <a:cs typeface="Calibri" pitchFamily="34" charset="-120"/>
              </a:rPr>
              <a:t>All three aligners tie at 30×. Low coverage and short reads are exactly where they should separate.</a:t>
            </a:r>
            <a:endParaRPr lang="en-US" sz="1100" dirty="0"/>
          </a:p>
        </p:txBody>
      </p:sp>
      <p:sp>
        <p:nvSpPr>
          <p:cNvPr id="24" name="Shape 22"/>
          <p:cNvSpPr/>
          <p:nvPr/>
        </p:nvSpPr>
        <p:spPr>
          <a:xfrm>
            <a:off x="5989320" y="4553712"/>
            <a:ext cx="5641848" cy="1280160"/>
          </a:xfrm>
          <a:prstGeom prst="roundRect">
            <a:avLst>
              <a:gd name="adj" fmla="val 5714"/>
            </a:avLst>
          </a:prstGeom>
          <a:solidFill>
            <a:srgbClr val="FDF0EC"/>
          </a:solidFill>
          <a:ln w="12700">
            <a:solidFill>
              <a:srgbClr val="FDF0EC"/>
            </a:solidFill>
            <a:prstDash val="solid"/>
          </a:ln>
          <a:effectLst>
            <a:outerShdw sx="100000" sy="100000" kx="0" ky="0" algn="bl" rotWithShape="0" blurRad="127000" dist="25400" dir="5400000">
              <a:srgbClr val="0B2E36">
                <a:alpha val="12000"/>
              </a:srgbClr>
            </a:outerShdw>
          </a:effectLst>
        </p:spPr>
      </p:sp>
      <p:sp>
        <p:nvSpPr>
          <p:cNvPr id="25" name="Text 23"/>
          <p:cNvSpPr/>
          <p:nvPr/>
        </p:nvSpPr>
        <p:spPr>
          <a:xfrm>
            <a:off x="6263640" y="4700016"/>
            <a:ext cx="5120640" cy="310896"/>
          </a:xfrm>
          <a:prstGeom prst="rect">
            <a:avLst/>
          </a:prstGeom>
          <a:noFill/>
          <a:ln/>
        </p:spPr>
        <p:txBody>
          <a:bodyPr wrap="square" lIns="0" tIns="0" rIns="0" bIns="0" rtlCol="0" anchor="ctr"/>
          <a:lstStyle/>
          <a:p>
            <a:pPr indent="0" marL="0">
              <a:buNone/>
            </a:pPr>
            <a:r>
              <a:rPr lang="en-US" sz="1250" b="1" dirty="0">
                <a:solidFill>
                  <a:srgbClr val="E06C4F"/>
                </a:solidFill>
                <a:latin typeface="Calibri" pitchFamily="34" charset="0"/>
                <a:ea typeface="Calibri" pitchFamily="34" charset="-122"/>
                <a:cs typeface="Calibri" pitchFamily="34" charset="-120"/>
              </a:rPr>
              <a:t>Known weakness of this design</a:t>
            </a:r>
            <a:endParaRPr lang="en-US" sz="1250" dirty="0"/>
          </a:p>
        </p:txBody>
      </p:sp>
      <p:sp>
        <p:nvSpPr>
          <p:cNvPr id="26" name="Text 24"/>
          <p:cNvSpPr/>
          <p:nvPr/>
        </p:nvSpPr>
        <p:spPr>
          <a:xfrm>
            <a:off x="6263640" y="5029200"/>
            <a:ext cx="5120640" cy="713232"/>
          </a:xfrm>
          <a:prstGeom prst="rect">
            <a:avLst/>
          </a:prstGeom>
          <a:noFill/>
          <a:ln/>
        </p:spPr>
        <p:txBody>
          <a:bodyPr wrap="square" lIns="0" tIns="0" rIns="0" bIns="0" rtlCol="0" anchor="ctr"/>
          <a:lstStyle/>
          <a:p>
            <a:pPr indent="0" marL="0">
              <a:lnSpc>
                <a:spcPts val="1350"/>
              </a:lnSpc>
              <a:buNone/>
            </a:pPr>
            <a:r>
              <a:rPr lang="en-US" sz="1100" dirty="0">
                <a:solidFill>
                  <a:srgbClr val="5C7278"/>
                </a:solidFill>
                <a:latin typeface="Calibri" pitchFamily="34" charset="0"/>
                <a:ea typeface="Calibri" pitchFamily="34" charset="-122"/>
                <a:cs typeface="Calibri" pitchFamily="34" charset="-120"/>
              </a:rPr>
              <a:t>One-factor-at-a-time cannot detect interactions — if a pipeline only fails when coverage is low AND reads are short, this misses it. A full grid would be 72 conditions, not 11.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E36"/>
        </a:solidFill>
      </p:bgPr>
    </p:bg>
    <p:spTree>
      <p:nvGrpSpPr>
        <p:cNvPr id="1" name=""/>
        <p:cNvGrpSpPr/>
        <p:nvPr/>
      </p:nvGrpSpPr>
      <p:grpSpPr>
        <a:xfrm>
          <a:off x="0" y="0"/>
          <a:ext cx="0" cy="0"/>
          <a:chOff x="0" y="0"/>
          <a:chExt cx="0" cy="0"/>
        </a:xfrm>
      </p:grpSpPr>
      <p:sp>
        <p:nvSpPr>
          <p:cNvPr id="2" name="Shape 0"/>
          <p:cNvSpPr/>
          <p:nvPr/>
        </p:nvSpPr>
        <p:spPr>
          <a:xfrm>
            <a:off x="9509760" y="3566160"/>
            <a:ext cx="4206240" cy="4206240"/>
          </a:xfrm>
          <a:prstGeom prst="ellipse">
            <a:avLst/>
          </a:prstGeom>
          <a:solidFill>
            <a:srgbClr val="0E7C86">
              <a:alpha val="14000"/>
            </a:srgbClr>
          </a:solidFill>
          <a:ln w="12700">
            <a:solidFill>
              <a:srgbClr val="0E7C86">
                <a:alpha val="14000"/>
              </a:srgbClr>
            </a:solidFill>
            <a:prstDash val="solid"/>
          </a:ln>
        </p:spPr>
      </p:sp>
      <p:sp>
        <p:nvSpPr>
          <p:cNvPr id="3" name="Text 1"/>
          <p:cNvSpPr/>
          <p:nvPr/>
        </p:nvSpPr>
        <p:spPr>
          <a:xfrm>
            <a:off x="566928" y="777240"/>
            <a:ext cx="7315200" cy="274320"/>
          </a:xfrm>
          <a:prstGeom prst="rect">
            <a:avLst/>
          </a:prstGeom>
          <a:noFill/>
          <a:ln/>
        </p:spPr>
        <p:txBody>
          <a:bodyPr wrap="square" lIns="0" tIns="0" rIns="0" bIns="0" rtlCol="0" anchor="ctr"/>
          <a:lstStyle/>
          <a:p>
            <a:pPr indent="0" marL="0">
              <a:buNone/>
            </a:pPr>
            <a:r>
              <a:rPr lang="en-US" sz="1200" b="1" spc="300" kern="0" dirty="0">
                <a:solidFill>
                  <a:srgbClr val="3BC4A8"/>
                </a:solidFill>
                <a:latin typeface="Calibri" pitchFamily="34" charset="0"/>
                <a:ea typeface="Calibri" pitchFamily="34" charset="-122"/>
                <a:cs typeface="Calibri" pitchFamily="34" charset="-120"/>
              </a:rPr>
              <a:t>IN SUMMARY</a:t>
            </a:r>
            <a:endParaRPr lang="en-US" sz="1200" dirty="0"/>
          </a:p>
        </p:txBody>
      </p:sp>
      <p:sp>
        <p:nvSpPr>
          <p:cNvPr id="4" name="Shape 2"/>
          <p:cNvSpPr/>
          <p:nvPr/>
        </p:nvSpPr>
        <p:spPr>
          <a:xfrm>
            <a:off x="566928" y="1517904"/>
            <a:ext cx="420624" cy="420624"/>
          </a:xfrm>
          <a:prstGeom prst="ellipse">
            <a:avLst/>
          </a:prstGeom>
          <a:solidFill>
            <a:srgbClr val="3BC4A8"/>
          </a:solidFill>
          <a:ln w="12700">
            <a:solidFill>
              <a:srgbClr val="3BC4A8"/>
            </a:solidFill>
            <a:prstDash val="solid"/>
          </a:ln>
        </p:spPr>
      </p:sp>
      <p:sp>
        <p:nvSpPr>
          <p:cNvPr id="5" name="Text 3"/>
          <p:cNvSpPr/>
          <p:nvPr/>
        </p:nvSpPr>
        <p:spPr>
          <a:xfrm>
            <a:off x="566928" y="1517904"/>
            <a:ext cx="420624" cy="420624"/>
          </a:xfrm>
          <a:prstGeom prst="rect">
            <a:avLst/>
          </a:prstGeom>
          <a:noFill/>
          <a:ln/>
        </p:spPr>
        <p:txBody>
          <a:bodyPr wrap="square" lIns="0" tIns="0" rIns="0" bIns="0" rtlCol="0" anchor="ctr"/>
          <a:lstStyle/>
          <a:p>
            <a:pPr algn="ctr" indent="0" marL="0">
              <a:buNone/>
            </a:pPr>
            <a:r>
              <a:rPr lang="en-US" sz="1500" b="1" dirty="0">
                <a:solidFill>
                  <a:srgbClr val="0B2E36"/>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52728" y="1463040"/>
            <a:ext cx="85039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 benchmark that can detect its own failure</a:t>
            </a:r>
            <a:endParaRPr lang="en-US" sz="2000" dirty="0"/>
          </a:p>
        </p:txBody>
      </p:sp>
      <p:sp>
        <p:nvSpPr>
          <p:cNvPr id="7" name="Text 5"/>
          <p:cNvSpPr/>
          <p:nvPr/>
        </p:nvSpPr>
        <p:spPr>
          <a:xfrm>
            <a:off x="1252728" y="1883664"/>
            <a:ext cx="8503920" cy="548640"/>
          </a:xfrm>
          <a:prstGeom prst="rect">
            <a:avLst/>
          </a:prstGeom>
          <a:noFill/>
          <a:ln/>
        </p:spPr>
        <p:txBody>
          <a:bodyPr wrap="square" lIns="0" tIns="0" rIns="0" bIns="0" rtlCol="0" anchor="ctr"/>
          <a:lstStyle/>
          <a:p>
            <a:pPr indent="0" marL="0">
              <a:lnSpc>
                <a:spcPts val="1500"/>
              </a:lnSpc>
              <a:buNone/>
            </a:pPr>
            <a:r>
              <a:rPr lang="en-US" sz="1250" dirty="0">
                <a:solidFill>
                  <a:srgbClr val="8FAEB3"/>
                </a:solidFill>
                <a:latin typeface="Calibri" pitchFamily="34" charset="0"/>
                <a:ea typeface="Calibri" pitchFamily="34" charset="-122"/>
                <a:cs typeface="Calibri" pitchFamily="34" charset="-120"/>
              </a:rPr>
              <a:t>Truth known by construction, and verified — deliberately corrupted call sets are correctly punished.</a:t>
            </a:r>
            <a:endParaRPr lang="en-US" sz="1250" dirty="0"/>
          </a:p>
        </p:txBody>
      </p:sp>
      <p:sp>
        <p:nvSpPr>
          <p:cNvPr id="8" name="Shape 6"/>
          <p:cNvSpPr/>
          <p:nvPr/>
        </p:nvSpPr>
        <p:spPr>
          <a:xfrm>
            <a:off x="566928" y="2752344"/>
            <a:ext cx="420624" cy="420624"/>
          </a:xfrm>
          <a:prstGeom prst="ellipse">
            <a:avLst/>
          </a:prstGeom>
          <a:solidFill>
            <a:srgbClr val="3BC4A8"/>
          </a:solidFill>
          <a:ln w="12700">
            <a:solidFill>
              <a:srgbClr val="3BC4A8"/>
            </a:solidFill>
            <a:prstDash val="solid"/>
          </a:ln>
        </p:spPr>
      </p:sp>
      <p:sp>
        <p:nvSpPr>
          <p:cNvPr id="9" name="Text 7"/>
          <p:cNvSpPr/>
          <p:nvPr/>
        </p:nvSpPr>
        <p:spPr>
          <a:xfrm>
            <a:off x="566928" y="2752344"/>
            <a:ext cx="420624" cy="420624"/>
          </a:xfrm>
          <a:prstGeom prst="rect">
            <a:avLst/>
          </a:prstGeom>
          <a:noFill/>
          <a:ln/>
        </p:spPr>
        <p:txBody>
          <a:bodyPr wrap="square" lIns="0" tIns="0" rIns="0" bIns="0" rtlCol="0" anchor="ctr"/>
          <a:lstStyle/>
          <a:p>
            <a:pPr algn="ctr" indent="0" marL="0">
              <a:buNone/>
            </a:pPr>
            <a:r>
              <a:rPr lang="en-US" sz="1500" b="1" dirty="0">
                <a:solidFill>
                  <a:srgbClr val="0B2E36"/>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52728" y="2697480"/>
            <a:ext cx="85039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aligner choice matters more than the caller</a:t>
            </a:r>
            <a:endParaRPr lang="en-US" sz="2000" dirty="0"/>
          </a:p>
        </p:txBody>
      </p:sp>
      <p:sp>
        <p:nvSpPr>
          <p:cNvPr id="11" name="Text 9"/>
          <p:cNvSpPr/>
          <p:nvPr/>
        </p:nvSpPr>
        <p:spPr>
          <a:xfrm>
            <a:off x="1252728" y="3118104"/>
            <a:ext cx="8503920" cy="548640"/>
          </a:xfrm>
          <a:prstGeom prst="rect">
            <a:avLst/>
          </a:prstGeom>
          <a:noFill/>
          <a:ln/>
        </p:spPr>
        <p:txBody>
          <a:bodyPr wrap="square" lIns="0" tIns="0" rIns="0" bIns="0" rtlCol="0" anchor="ctr"/>
          <a:lstStyle/>
          <a:p>
            <a:pPr indent="0" marL="0">
              <a:lnSpc>
                <a:spcPts val="1500"/>
              </a:lnSpc>
              <a:buNone/>
            </a:pPr>
            <a:r>
              <a:rPr lang="en-US" sz="1250" dirty="0">
                <a:solidFill>
                  <a:srgbClr val="8FAEB3"/>
                </a:solidFill>
                <a:latin typeface="Calibri" pitchFamily="34" charset="0"/>
                <a:ea typeface="Calibri" pitchFamily="34" charset="-122"/>
                <a:cs typeface="Calibri" pitchFamily="34" charset="-120"/>
              </a:rPr>
              <a:t>Up to 7.4× fewer indel errors. One seed so far — the sweep confirms or refutes it.</a:t>
            </a:r>
            <a:endParaRPr lang="en-US" sz="1250" dirty="0"/>
          </a:p>
        </p:txBody>
      </p:sp>
      <p:sp>
        <p:nvSpPr>
          <p:cNvPr id="12" name="Shape 10"/>
          <p:cNvSpPr/>
          <p:nvPr/>
        </p:nvSpPr>
        <p:spPr>
          <a:xfrm>
            <a:off x="566928" y="3986784"/>
            <a:ext cx="420624" cy="420624"/>
          </a:xfrm>
          <a:prstGeom prst="ellipse">
            <a:avLst/>
          </a:prstGeom>
          <a:solidFill>
            <a:srgbClr val="3BC4A8"/>
          </a:solidFill>
          <a:ln w="12700">
            <a:solidFill>
              <a:srgbClr val="3BC4A8"/>
            </a:solidFill>
            <a:prstDash val="solid"/>
          </a:ln>
        </p:spPr>
      </p:sp>
      <p:sp>
        <p:nvSpPr>
          <p:cNvPr id="13" name="Text 11"/>
          <p:cNvSpPr/>
          <p:nvPr/>
        </p:nvSpPr>
        <p:spPr>
          <a:xfrm>
            <a:off x="566928" y="3986784"/>
            <a:ext cx="420624" cy="420624"/>
          </a:xfrm>
          <a:prstGeom prst="rect">
            <a:avLst/>
          </a:prstGeom>
          <a:noFill/>
          <a:ln/>
        </p:spPr>
        <p:txBody>
          <a:bodyPr wrap="square" lIns="0" tIns="0" rIns="0" bIns="0" rtlCol="0" anchor="ctr"/>
          <a:lstStyle/>
          <a:p>
            <a:pPr algn="ctr" indent="0" marL="0">
              <a:buNone/>
            </a:pPr>
            <a:r>
              <a:rPr lang="en-US" sz="1500" b="1" dirty="0">
                <a:solidFill>
                  <a:srgbClr val="0B2E36"/>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52728" y="3931920"/>
            <a:ext cx="85039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Three classes of silent failure identified and controlled</a:t>
            </a:r>
            <a:endParaRPr lang="en-US" sz="2000" dirty="0"/>
          </a:p>
        </p:txBody>
      </p:sp>
      <p:sp>
        <p:nvSpPr>
          <p:cNvPr id="15" name="Text 13"/>
          <p:cNvSpPr/>
          <p:nvPr/>
        </p:nvSpPr>
        <p:spPr>
          <a:xfrm>
            <a:off x="1252728" y="4352544"/>
            <a:ext cx="8503920" cy="548640"/>
          </a:xfrm>
          <a:prstGeom prst="rect">
            <a:avLst/>
          </a:prstGeom>
          <a:noFill/>
          <a:ln/>
        </p:spPr>
        <p:txBody>
          <a:bodyPr wrap="square" lIns="0" tIns="0" rIns="0" bIns="0" rtlCol="0" anchor="ctr"/>
          <a:lstStyle/>
          <a:p>
            <a:pPr indent="0" marL="0">
              <a:lnSpc>
                <a:spcPts val="1500"/>
              </a:lnSpc>
              <a:buNone/>
            </a:pPr>
            <a:r>
              <a:rPr lang="en-US" sz="1250" dirty="0">
                <a:solidFill>
                  <a:srgbClr val="8FAEB3"/>
                </a:solidFill>
                <a:latin typeface="Calibri" pitchFamily="34" charset="0"/>
                <a:ea typeface="Calibri" pitchFamily="34" charset="-122"/>
                <a:cs typeface="Calibri" pitchFamily="34" charset="-120"/>
              </a:rPr>
              <a:t>Ploidy, coordinate systems, variant representation. The workflow reproduces byte-for-byte.</a:t>
            </a:r>
            <a:endParaRPr lang="en-US" sz="1250" dirty="0"/>
          </a:p>
        </p:txBody>
      </p:sp>
      <p:sp>
        <p:nvSpPr>
          <p:cNvPr id="16" name="Shape 14"/>
          <p:cNvSpPr/>
          <p:nvPr/>
        </p:nvSpPr>
        <p:spPr>
          <a:xfrm>
            <a:off x="566928" y="5230368"/>
            <a:ext cx="8869680" cy="868680"/>
          </a:xfrm>
          <a:prstGeom prst="roundRect">
            <a:avLst>
              <a:gd name="adj" fmla="val 10526"/>
            </a:avLst>
          </a:prstGeom>
          <a:solidFill>
            <a:srgbClr val="12414C"/>
          </a:solidFill>
          <a:ln w="12700">
            <a:solidFill>
              <a:srgbClr val="12414C"/>
            </a:solidFill>
            <a:prstDash val="solid"/>
          </a:ln>
        </p:spPr>
      </p:sp>
      <p:sp>
        <p:nvSpPr>
          <p:cNvPr id="17" name="Text 15"/>
          <p:cNvSpPr/>
          <p:nvPr/>
        </p:nvSpPr>
        <p:spPr>
          <a:xfrm>
            <a:off x="886968" y="5230368"/>
            <a:ext cx="8321040" cy="868680"/>
          </a:xfrm>
          <a:prstGeom prst="rect">
            <a:avLst/>
          </a:prstGeom>
          <a:noFill/>
          <a:ln/>
        </p:spPr>
        <p:txBody>
          <a:bodyPr wrap="square" lIns="0" tIns="0" rIns="0" bIns="0" rtlCol="0" anchor="ctr"/>
          <a:lstStyle/>
          <a:p>
            <a:pPr indent="0" marL="0">
              <a:buNone/>
            </a:pPr>
            <a:r>
              <a:rPr lang="en-US" sz="1500" i="1" dirty="0">
                <a:solidFill>
                  <a:srgbClr val="3BC4A8"/>
                </a:solidFill>
                <a:latin typeface="Cambria" pitchFamily="34" charset="0"/>
                <a:ea typeface="Cambria" pitchFamily="34" charset="-122"/>
                <a:cs typeface="Cambria" pitchFamily="34" charset="-120"/>
              </a:rPr>
              <a:t>The hard part of a benchmark isn't running the tools — it's making sure the numbers mean what you think they mean.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Benchmarking Read Aligners and Variant Callers</dc:title>
  <dc:subject>PptxGenJS Presentation</dc:subject>
  <dc:creator>DNA benchmark project</dc:creator>
  <cp:lastModifiedBy>DNA benchmark project</cp:lastModifiedBy>
  <cp:revision>1</cp:revision>
  <dcterms:created xsi:type="dcterms:W3CDTF">2026-08-17T03:41:56Z</dcterms:created>
  <dcterms:modified xsi:type="dcterms:W3CDTF">2026-08-17T03:41:56Z</dcterms:modified>
</cp:coreProperties>
</file>